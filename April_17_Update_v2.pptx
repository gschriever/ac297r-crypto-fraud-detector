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3" r:id="rId5"/>
    <p:sldId id="265" r:id="rId6"/>
    <p:sldId id="26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460D8-C424-3B4B-8919-5E57E2DED5E6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080FD-D343-5845-A105-0637227FE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9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Unsupervised Fraud Detection Validation</a:t>
            </a:r>
            <a:endParaRPr lang="en-US" dirty="0"/>
          </a:p>
          <a:p>
            <a:r>
              <a:rPr lang="en-US" dirty="0"/>
              <a:t>Updated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AC297r</a:t>
            </a:r>
          </a:p>
          <a:p>
            <a:r>
              <a:t>Gillian Schriever | Jiahui (Cecilia) Cai | Zhilin Chen | Jinghan Huang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Isolate fraudulent behavior natively without labeled training data.</a:t>
            </a:r>
          </a:p>
          <a:p>
            <a:r>
              <a:t>Evaluated 4,334 mid-cap ERC-20 tokens via Dune Analytics.</a:t>
            </a:r>
          </a:p>
          <a:p>
            <a:r>
              <a:t>Deployed 3 Independent Unsupervised Models:</a:t>
            </a:r>
          </a:p>
          <a:p>
            <a:pPr lvl="1"/>
            <a:r>
              <a:t>1. Isolation Forest (Detects sparse outliers)</a:t>
            </a:r>
          </a:p>
          <a:p>
            <a:pPr lvl="1"/>
            <a:r>
              <a:t>2. DBSCAN (Detects density anomalies)</a:t>
            </a:r>
          </a:p>
          <a:p>
            <a:pPr lvl="1"/>
            <a:r>
              <a:t>3. PCA + Mahalanobis Distance (Detects multi-dimensional extremes)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Consensus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eliminate false positives, we established a strict voting threshold.</a:t>
            </a:r>
          </a:p>
          <a:p>
            <a:r>
              <a:t>Tokens flagged by at least 2 models: 147</a:t>
            </a:r>
          </a:p>
          <a:p>
            <a:r>
              <a:t>Tokens flagged by ALL 3 models (High Confidence): 46</a:t>
            </a:r>
          </a:p>
          <a:p>
            <a:r>
              <a:t>The Top 46 tokens represent the most mathematically extreme ~1% of the entire Ethereum mid-cap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High-Level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dirty="0"/>
              <a:t>Total Anomaly Detection Efficacy: 100% </a:t>
            </a:r>
            <a:r>
              <a:rPr lang="en-US" dirty="0"/>
              <a:t>(</a:t>
            </a:r>
            <a:r>
              <a:rPr dirty="0"/>
              <a:t>46/46 Tokens)</a:t>
            </a:r>
          </a:p>
          <a:p>
            <a:pPr lvl="1"/>
            <a:r>
              <a:rPr dirty="0"/>
              <a:t>The Unsupervised Pipeline (Consensus voting via Isolation Forest, DBSCAN, PCA) successfully isolated catastrophic market events.</a:t>
            </a:r>
          </a:p>
          <a:p>
            <a:pPr lvl="1"/>
            <a:r>
              <a:rPr dirty="0"/>
              <a:t>Model categorized anomalies</a:t>
            </a:r>
            <a:r>
              <a:rPr lang="en-US" dirty="0"/>
              <a:t> (not just scams)</a:t>
            </a:r>
            <a:r>
              <a:rPr dirty="0"/>
              <a:t> into </a:t>
            </a:r>
            <a:r>
              <a:rPr lang="en-US" dirty="0"/>
              <a:t>three </a:t>
            </a:r>
            <a:r>
              <a:rPr dirty="0"/>
              <a:t>completely distinct failure modes:</a:t>
            </a:r>
          </a:p>
          <a:p>
            <a:pPr lvl="2"/>
            <a:r>
              <a:rPr dirty="0"/>
              <a:t>1. Technical Exploits (Smart contract hacks, liquidations)</a:t>
            </a:r>
          </a:p>
          <a:p>
            <a:pPr lvl="2"/>
            <a:r>
              <a:rPr dirty="0"/>
              <a:t>2. Malicious Fraud (Rug pulls, honeypots, Ponzi schemes)</a:t>
            </a:r>
          </a:p>
          <a:p>
            <a:pPr lvl="2"/>
            <a:r>
              <a:rPr dirty="0"/>
              <a:t>3. Institutional Market Shocks (Stablecoin wrapping/unwrapping)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Severity Scaling via Consensus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dirty="0"/>
              <a:t>Key Insight: The severity of the market event scales with the number of models flagging it.</a:t>
            </a:r>
          </a:p>
          <a:p>
            <a:pPr lvl="1"/>
            <a:r>
              <a:rPr dirty="0"/>
              <a:t>3-Vote Consensus (Isolation Forest + DBSCAN + PCA):</a:t>
            </a:r>
          </a:p>
          <a:p>
            <a:pPr lvl="2"/>
            <a:r>
              <a:rPr dirty="0"/>
              <a:t>Catastrophic systemic failures and massive protocol hacks (e.g., $600M Ronin Hack, 50% CORE liquidations).</a:t>
            </a:r>
          </a:p>
          <a:p>
            <a:pPr lvl="2"/>
            <a:r>
              <a:rPr dirty="0"/>
              <a:t>Institutional volume shocks (Stablecoin mint/burn cascades).</a:t>
            </a:r>
          </a:p>
          <a:p>
            <a:pPr lvl="1"/>
            <a:r>
              <a:rPr dirty="0"/>
              <a:t>1-Vote Anomalies (Single Model Flag):</a:t>
            </a:r>
          </a:p>
          <a:p>
            <a:pPr lvl="2"/>
            <a:r>
              <a:rPr dirty="0"/>
              <a:t>Basic, low-liquidity meme coin rug pulls (e.g., RATO, $ANIBTC).</a:t>
            </a:r>
          </a:p>
          <a:p>
            <a:pPr lvl="2"/>
            <a:r>
              <a:rPr dirty="0"/>
              <a:t>Name collisions targeting slang and hype keywords (e.g., FOMO, MIS).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Ground Truth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5229"/>
            <a:ext cx="8229600" cy="4525963"/>
          </a:xfrm>
        </p:spPr>
        <p:txBody>
          <a:bodyPr wrap="square">
            <a:normAutofit fontScale="85000" lnSpcReduction="10000"/>
          </a:bodyPr>
          <a:lstStyle/>
          <a:p>
            <a:r>
              <a:rPr dirty="0"/>
              <a:t>Defining 'Scam' strictly as malicious developer fraud (rug pulls, pump &amp; dumps):</a:t>
            </a:r>
          </a:p>
          <a:p>
            <a:pPr lvl="1"/>
            <a:r>
              <a:rPr dirty="0"/>
              <a:t>True Positives (~80%): Intentional Developer Fraud</a:t>
            </a:r>
          </a:p>
          <a:p>
            <a:pPr lvl="2"/>
            <a:r>
              <a:rPr dirty="0"/>
              <a:t>Massive rug pulls (TARO, GREED), honeypots (LUA), corporate spoofing (CZI, CULTB), and massive phishing drainers (PLASMA, APEX).</a:t>
            </a:r>
          </a:p>
          <a:p>
            <a:pPr lvl="1"/>
            <a:r>
              <a:rPr dirty="0"/>
              <a:t>False Positives (~20%): Benign Mechanics &amp; Market Shocks</a:t>
            </a:r>
          </a:p>
          <a:p>
            <a:pPr lvl="2"/>
            <a:r>
              <a:rPr dirty="0"/>
              <a:t>Institutional Liquidity: 3Crv, USDP, USDL, </a:t>
            </a:r>
            <a:r>
              <a:rPr dirty="0" err="1"/>
              <a:t>aEthWETH</a:t>
            </a:r>
            <a:r>
              <a:rPr dirty="0"/>
              <a:t>, </a:t>
            </a:r>
            <a:r>
              <a:rPr dirty="0" err="1"/>
              <a:t>aEthWBTC</a:t>
            </a:r>
            <a:r>
              <a:rPr dirty="0"/>
              <a:t> (Whale / institutional rebalancing).</a:t>
            </a:r>
          </a:p>
          <a:p>
            <a:pPr lvl="2"/>
            <a:r>
              <a:rPr dirty="0"/>
              <a:t>Contagion &amp; Cascades: MIM (UST De-pegging Contagion), CORE (Algorithmic liquidation cascade).</a:t>
            </a:r>
          </a:p>
          <a:p>
            <a:pPr lvl="2"/>
            <a:r>
              <a:rPr dirty="0"/>
              <a:t>Bugs &amp; External Hacks: TETH (Decimal mismatch bug), SLP (Ronin $622M Hack), BNT (</a:t>
            </a:r>
            <a:r>
              <a:rPr dirty="0" err="1"/>
              <a:t>Bancor</a:t>
            </a:r>
            <a:r>
              <a:rPr dirty="0"/>
              <a:t> external exploit protocol freeze).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444</Words>
  <Application>Microsoft Macintosh PowerPoint</Application>
  <PresentationFormat>On-screen Show (4:3)</PresentationFormat>
  <Paragraphs>39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Unsupervised Fraud Detection Validation Updated Results</vt:lpstr>
      <vt:lpstr>Evaluation Methodology</vt:lpstr>
      <vt:lpstr>The Consensus Approach</vt:lpstr>
      <vt:lpstr>High-Level Validation Results</vt:lpstr>
      <vt:lpstr>Severity Scaling via Consensus</vt:lpstr>
      <vt:lpstr>Ground Truth Validation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Gillian Schriever</cp:lastModifiedBy>
  <cp:revision>5</cp:revision>
  <dcterms:created xsi:type="dcterms:W3CDTF">2013-01-27T09:14:16Z</dcterms:created>
  <dcterms:modified xsi:type="dcterms:W3CDTF">2026-04-17T15:38:10Z</dcterms:modified>
  <cp:category/>
</cp:coreProperties>
</file>