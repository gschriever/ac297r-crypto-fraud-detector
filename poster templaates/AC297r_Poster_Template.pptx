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0" cy="4023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0" cy="4023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rvard-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2926080" cy="3291840"/>
          </a:xfrm>
          <a:prstGeom prst="rect">
            <a:avLst/>
          </a:prstGeom>
        </p:spPr>
      </p:pic>
      <p:pic>
        <p:nvPicPr>
          <p:cNvPr id="4" name="Picture 3" descr="H_SEAS_logo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0" y="548640"/>
            <a:ext cx="29260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548640"/>
            <a:ext cx="42062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A51C30"/>
                </a:solidFill>
                <a:latin typeface="Georgia"/>
              </a:rPr>
              <a:t>Detecting crypto fraud without labels:</a:t>
            </a:r>
          </a:p>
          <a:p>
            <a:pPr algn="ctr">
              <a:lnSpc>
                <a:spcPct val="105000"/>
              </a:lnSpc>
            </a:pPr>
            <a:r>
              <a:rPr sz="5600" b="1" i="0">
                <a:solidFill>
                  <a:srgbClr val="A51C30"/>
                </a:solidFill>
                <a:latin typeface="Georgia"/>
              </a:rPr>
              <a:t>14 of 15 known rug pulls recovered from 4,334 Ethereum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926080"/>
            <a:ext cx="4206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2A2A2A"/>
                </a:solidFill>
                <a:latin typeface="Georgia"/>
              </a:rPr>
              <a:t>Gillian Schriever  ·  Jiahui (Cecilia) Cai  ·  Zhilin Chen  ·  Jinghan Huang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566160"/>
            <a:ext cx="4206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Georgia"/>
              </a:rPr>
              <a:t>Harvard John A. Paulson School of Engineering and Applied Sciences  —  AC297r Capstone,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389120"/>
            <a:ext cx="50292000" cy="3657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566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A51C30"/>
                </a:solidFill>
                <a:latin typeface="Calibri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943600"/>
            <a:ext cx="5483352" cy="3657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15666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A2A2A"/>
                </a:solidFill>
                <a:latin typeface="Calibri"/>
              </a:rPr>
              <a:t>Can we detect crypto fraud without any labeled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8869680"/>
            <a:ext cx="15666720" cy="960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Fraud labels in crypto are rare, slow to publish, and biased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toward high-profile cases. Supervised classifiers trained on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them don't generalize — the attacks evolve faster than the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labels.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We build a two-layer unsupervised pipeline: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①  Flag tokens whose on-chain trading behavior looks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 statistically unusual.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②  Estimate how likely that unusual behavior is to be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 intentional fraud (vs. a hack, bug, or large legitimate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 event).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12640" y="5029200"/>
            <a:ext cx="1566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A51C30"/>
                </a:solidFill>
                <a:latin typeface="Calibri"/>
              </a:rPr>
              <a:t>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12640" y="5943600"/>
            <a:ext cx="5483352" cy="3657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12640" y="6309360"/>
            <a:ext cx="15666720" cy="1234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Data.  4,334 mid-cap ERC-20 tokens on Ethereum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(Dune Analytics, 365-day window, $1M–$1B annual volume).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Features (6).  Volume spike ratio, peak daily volume, days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traded, max single-trade dominance, and two 24-hour post-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launch velocity features.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Layer 1 — three independent detectors: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•  Isolation Forest (tree-based outlier detection)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•  DBSCAN (density clustering; keep the noise points)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    •  PCA + Mahalanobis distance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Rank-averaged into a single continuous suspicion score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in [0, 1], replacing the legacy three-detector yes/no vote.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Layer 2.  Logistic regression (L2-regularized) fit on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n = 144 hand- and web-validated tokens, mapping suspicious-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behavior features to P(fraud). Evaluated with leave-one-out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2A2A2A"/>
                </a:solidFill>
                <a:latin typeface="Calibri"/>
              </a:rPr>
              <a:t>cross-validation.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02320" y="5029200"/>
            <a:ext cx="1566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A51C30"/>
                </a:solidFill>
                <a:latin typeface="Calibri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02320" y="5943600"/>
            <a:ext cx="5483352" cy="3657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02320" y="6309360"/>
            <a:ext cx="15666720" cy="2926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02320" y="6446520"/>
            <a:ext cx="15666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600" b="1" i="0">
                <a:solidFill>
                  <a:srgbClr val="A51C30"/>
                </a:solidFill>
                <a:latin typeface="Georgia"/>
              </a:rPr>
              <a:t>14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02320" y="8046720"/>
            <a:ext cx="1566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known frauds recovered at the p85 suspicion cutoff.</a:t>
            </a:r>
          </a:p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The legacy three-vote consensus recovered 4 of 15.</a:t>
            </a:r>
          </a:p>
        </p:txBody>
      </p:sp>
      <p:pic>
        <p:nvPicPr>
          <p:cNvPr id="21" name="Picture 20" descr="baselin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2320" y="9601200"/>
            <a:ext cx="15666720" cy="5303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802320" y="14950440"/>
            <a:ext cx="1566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Fig. 1.  Fraud recall on the n = 144 validated subset</a:t>
            </a:r>
          </a:p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(15 FRAUD, 129 non-fraud). Continuous suspicion</a:t>
            </a:r>
          </a:p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score catches 14 of 15 at p85; discrete voting catches 4.</a:t>
            </a:r>
          </a:p>
        </p:txBody>
      </p:sp>
      <p:pic>
        <p:nvPicPr>
          <p:cNvPr id="23" name="Picture 22" descr="shap_global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2320" y="16733520"/>
            <a:ext cx="15666720" cy="4389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802320" y="21168360"/>
            <a:ext cx="1566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Fig. 2.  SHAP attribution on Isolation Forest.</a:t>
            </a:r>
          </a:p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A2A2A"/>
                </a:solidFill>
                <a:latin typeface="Calibri"/>
              </a:rPr>
              <a:t>24-hour early velocity outranks the legacy volume-spike feature.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2918400"/>
            <a:ext cx="48646080" cy="4389120"/>
          </a:xfrm>
          <a:prstGeom prst="roundRect">
            <a:avLst>
              <a:gd name="adj" fmla="val 3000"/>
            </a:avLst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3147000"/>
            <a:ext cx="47548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SO 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4152840"/>
            <a:ext cx="47548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Continuous ranking beats discrete voting.  A rank-averaged suspicion score recovered 14 of 15 known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frauds on the validated subset; the legacy "3 of 3 detectors agree" rule recovered only 4 of 15.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Two layers separate 'anomaly' from 'fraud.'  The Layer-2 calibrator achieves 88% specificity —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blue-chip tokens (WLFI, DEGEN, MIM, 3Crv) that trigger Layer 1 alarms all score P(fraud) &lt; 0.06,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while known rugs (WFT, PLASMA, ORBDEG cluster) score P(fraud) &gt; 0.8. Leave-one-out accuracy 0.87.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Remaining limitations.  Small-volume honeypots (HYPER, KUBO) still slip through — catching them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requires graph-level signals (deployer history, liquidity-pool removal) beyond on-chain volume.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627560"/>
            <a:ext cx="24323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Code:      github.com/gschriever/AC297r-crypto-fraud-detector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Contact:   [ name ]  ·  [ email ]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Advisor:   [ advisor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0" y="37627560"/>
            <a:ext cx="24323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[1] Mazorra et al.  Do Not Rug on Me.  arXiv:2201.07220, 2022.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[2] Liu, Ting &amp; Zhou.  Isolation Forest.  ICDM 2008.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2A2A2A"/>
                </a:solidFill>
                <a:latin typeface="Calibri"/>
              </a:rPr>
              <a:t>[3] Lundberg &amp; Lee.  SHAP.  NeurIPS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