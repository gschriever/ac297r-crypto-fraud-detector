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="http://schemas.openxmlformats.org/drawingml/2006/main" xmlns:ns1="http://schemas.openxmlformats.org/officeDocument/2006/relationships" xmlns:p="http://schemas.openxmlformats.org/presentationml/2006/main" saveSubsetFonts="1" autoCompressPictures="0">
  <p:sldMasterIdLst>
    <p:sldMasterId id="2147483648" ns1:id="rId1"/>
  </p:sldMasterIdLst>
  <p:sldIdLst>
    <p:sldId id="256" ns1:id="rId7"/>
  </p:sldIdLst>
  <p:sldSz cx="54864000" cy="43891200" type="screen4x3"/>
  <p:notesSz cx="6858000" cy="9144000"/>
  <p:defaultTextStyle>
    <defPPr>
      <defRPr lang="en-US"/>
    </defPPr>
    <lvl1pPr marL="0" algn="l" defTabSz="457200" rtl="0" eaLnBrk="1" latinLnBrk="0" hangingPunct="1">
      <defRPr sz="1800" kern="1200">
        <solidFill>
          <schemeClr val="tx1"/>
        </solidFill>
        <latin typeface="+mn-lt"/>
        <ea typeface="+mn-ea"/>
        <cs typeface="+mn-cs"/>
      </defRPr>
    </lvl1pPr>
    <lvl2pPr marL="457200" algn="l" defTabSz="457200" rtl="0" eaLnBrk="1" latinLnBrk="0" hangingPunct="1">
      <defRPr sz="1800" kern="1200">
        <solidFill>
          <schemeClr val="tx1"/>
        </solidFill>
        <latin typeface="+mn-lt"/>
        <ea typeface="+mn-ea"/>
        <cs typeface="+mn-cs"/>
      </defRPr>
    </lvl2pPr>
    <lvl3pPr marL="914400" algn="l" defTabSz="457200" rtl="0" eaLnBrk="1" latinLnBrk="0" hangingPunct="1">
      <defRPr sz="1800" kern="1200">
        <solidFill>
          <schemeClr val="tx1"/>
        </solidFill>
        <latin typeface="+mn-lt"/>
        <ea typeface="+mn-ea"/>
        <cs typeface="+mn-cs"/>
      </defRPr>
    </lvl3pPr>
    <lvl4pPr marL="1371600" algn="l" defTabSz="457200" rtl="0" eaLnBrk="1" latinLnBrk="0" hangingPunct="1">
      <defRPr sz="1800" kern="1200">
        <solidFill>
          <schemeClr val="tx1"/>
        </solidFill>
        <latin typeface="+mn-lt"/>
        <ea typeface="+mn-ea"/>
        <cs typeface="+mn-cs"/>
      </defRPr>
    </lvl4pPr>
    <lvl5pPr marL="1828800" algn="l" defTabSz="457200" rtl="0" eaLnBrk="1" latinLnBrk="0" hangingPunct="1">
      <defRPr sz="1800" kern="1200">
        <solidFill>
          <schemeClr val="tx1"/>
        </solidFill>
        <latin typeface="+mn-lt"/>
        <ea typeface="+mn-ea"/>
        <cs typeface="+mn-cs"/>
      </defRPr>
    </lvl5pPr>
    <lvl6pPr marL="2286000" algn="l" defTabSz="457200" rtl="0" eaLnBrk="1" latinLnBrk="0" hangingPunct="1">
      <defRPr sz="1800" kern="1200">
        <solidFill>
          <schemeClr val="tx1"/>
        </solidFill>
        <latin typeface="+mn-lt"/>
        <ea typeface="+mn-ea"/>
        <cs typeface="+mn-cs"/>
      </defRPr>
    </lvl6pPr>
    <lvl7pPr marL="2743200" algn="l" defTabSz="457200" rtl="0" eaLnBrk="1" latinLnBrk="0" hangingPunct="1">
      <defRPr sz="1800" kern="1200">
        <solidFill>
          <schemeClr val="tx1"/>
        </solidFill>
        <latin typeface="+mn-lt"/>
        <ea typeface="+mn-ea"/>
        <cs typeface="+mn-cs"/>
      </defRPr>
    </lvl7pPr>
    <lvl8pPr marL="3200400" algn="l" defTabSz="457200" rtl="0" eaLnBrk="1" latinLnBrk="0" hangingPunct="1">
      <defRPr sz="1800" kern="1200">
        <solidFill>
          <schemeClr val="tx1"/>
        </solidFill>
        <latin typeface="+mn-lt"/>
        <ea typeface="+mn-ea"/>
        <cs typeface="+mn-cs"/>
      </defRPr>
    </lvl8pPr>
    <lvl9pPr marL="3657600" algn="l" defTabSz="457200" rtl="0" eaLnBrk="1" latinLnBrk="0" hangingPunct="1">
      <defRPr sz="1800" kern="1200">
        <solidFill>
          <schemeClr val="tx1"/>
        </solidFill>
        <latin typeface="+mn-lt"/>
        <ea typeface="+mn-ea"/>
        <cs typeface="+mn-cs"/>
      </defRPr>
    </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xfrm>
            <off x="0" y="0"/>
            <ext cx="54863999" cy="43891200"/>
          </xfrm>
          <prstGeom prst="rect">
            <avLst/>
          </prstGeom>
          <solidFill>
            <srgbClr val="FFFFFF"/>
          </solidFill>
          <ln>
            <noFill/>
          </ln>
        </p:spPr>
        <p:style>
          <lnRef idx="1">
            <schemeClr val="accent1"/>
          </lnRef>
          <fillRef idx="3">
            <schemeClr val="accent1"/>
          </fillRef>
          <effectRef idx="2">
            <schemeClr val="accent1"/>
          </effectRef>
          <fontRef idx="minor">
            <schemeClr val="lt1"/>
          </fontRef>
        </p:style>
        <p:txBody>
          <bodyPr rtlCol="0" anchor="ctr"/>
          <lstStyle/>
          <p>
            <pPr algn="ctr"/>
          </p>
        </p:txBody>
      </p:sp>
      <p:sp>
        <p:nvSpPr>
          <p:cNvPr id="3" name="Rectangle 2"/>
          <p:cNvSpPr/>
          <p:nvPr/>
        </p:nvSpPr>
        <p:spPr>
          <xfrm>
            <off x="897774" y="598516"/>
            <ext cx="3192087" cy="3591098"/>
          </xfrm>
          <prstGeom prst="rect">
            <avLst/>
          </prstGeom>
          <solidFill>
            <srgbClr val="F5F5F5"/>
          </solidFill>
          <ln w="9525">
            <solidFill>
              <srgbClr val="D8D8D8"/>
            </solidFill>
          </ln>
          <effectLst/>
        </p:spPr>
        <p:style>
          <lnRef idx="1">
            <schemeClr val="accent1"/>
          </lnRef>
          <fillRef idx="3">
            <schemeClr val="accent1"/>
          </fillRef>
          <effectRef idx="2">
            <schemeClr val="accent1"/>
          </effectRef>
          <fontRef idx="minor">
            <schemeClr val="lt1"/>
          </fontRef>
        </p:style>
        <p:txBody>
          <bodyPr rtlCol="0" anchor="ctr"/>
          <lstStyle/>
          <p>
            <pPr algn="ctr"/>
          </p>
        </p:txBody>
      </p:sp>
      <p:sp>
        <p:nvSpPr>
          <p:cNvPr id="4" name="TextBox 3"/>
          <p:cNvSpPr txBox="1"/>
          <p:nvPr/>
        </p:nvSpPr>
        <p:spPr>
          <xfrm>
            <off x="897774" y="2094807"/>
            <ext cx="3192087" cy="698269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ctr">
              <lnSpc>
                <spcPct val="115000"/>
              </lnSpc>
            </pPr>
            <r>
              <rPr sz="2181" b="0" i="1">
                <solidFill>
                  <srgbClr val="999999"/>
                </solidFill>
                <latin typeface="Calibri"/>
              </rPr>
              <t>[ shield ]</t>
            </r>
          </p>
        </p:txBody>
      </p:sp>
      <p:sp>
        <p:nvSpPr>
          <p:cNvPr id="5" name="Rectangle 4"/>
          <p:cNvSpPr/>
          <p:nvPr/>
        </p:nvSpPr>
        <p:spPr>
          <xfrm>
            <off x="50774138" y="598516"/>
            <ext cx="3192087" cy="3591098"/>
          </xfrm>
          <prstGeom prst="rect">
            <avLst/>
          </prstGeom>
          <solidFill>
            <srgbClr val="F5F5F5"/>
          </solidFill>
          <ln w="9525">
            <solidFill>
              <srgbClr val="D8D8D8"/>
            </solidFill>
          </ln>
          <effectLst/>
        </p:spPr>
        <p:style>
          <lnRef idx="1">
            <schemeClr val="accent1"/>
          </lnRef>
          <fillRef idx="3">
            <schemeClr val="accent1"/>
          </fillRef>
          <effectRef idx="2">
            <schemeClr val="accent1"/>
          </effectRef>
          <fontRef idx="minor">
            <schemeClr val="lt1"/>
          </fontRef>
        </p:style>
        <p:txBody>
          <bodyPr rtlCol="0" anchor="ctr"/>
          <lstStyle/>
          <p>
            <pPr algn="ctr"/>
          </p>
        </p:txBody>
      </p:sp>
      <p:sp>
        <p:nvSpPr>
          <p:cNvPr id="6" name="TextBox 5"/>
          <p:cNvSpPr txBox="1"/>
          <p:nvPr/>
        </p:nvSpPr>
        <p:spPr>
          <xfrm>
            <off x="50774138" y="2094807"/>
            <ext cx="3192087" cy="698269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ctr">
              <lnSpc>
                <spcPct val="115000"/>
              </lnSpc>
            </pPr>
            <r>
              <rPr sz="2181" b="0" i="1">
                <solidFill>
                  <srgbClr val="999999"/>
                </solidFill>
                <latin typeface="Calibri"/>
              </rPr>
              <t>[ shield ]</t>
            </r>
          </p>
        </p:txBody>
      </p:sp>
      <p:sp>
        <p:nvSpPr>
          <p:cNvPr id="7" name="TextBox 6"/>
          <p:cNvSpPr txBox="1"/>
          <p:nvPr/>
        </p:nvSpPr>
        <p:spPr>
          <xfrm>
            <off x="4488872" y="598516"/>
            <ext cx="45886254" cy="2593570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ctr">
              <lnSpc>
                <spcPct val="105000"/>
              </lnSpc>
            </pPr>
            <r>
              <rPr sz="6763" b="1" i="0">
                <solidFill>
                  <srgbClr val="A51C30"/>
                </solidFill>
                <latin typeface="Georgia"/>
              </rPr>
              <t>Detecting crypto fraud without labels:</t>
            </r>
          </p>
          <p>
            <pPr algn="ctr">
              <lnSpc>
                <spcPct val="105000"/>
              </lnSpc>
            </pPr>
            <r>
              <rPr sz="6763" b="1" i="0">
                <solidFill>
                  <srgbClr val="A51C30"/>
                </solidFill>
                <latin typeface="Georgia"/>
              </rPr>
              <t>6 of 6 known rug pulls recovered from 4,334 Ethereum tokens.</t>
            </r>
          </p>
        </p:txBody>
      </p:sp>
      <p:sp>
        <p:nvSpPr>
          <p:cNvPr id="8" name="TextBox 7"/>
          <p:cNvSpPr txBox="1"/>
          <p:nvPr/>
        </p:nvSpPr>
        <p:spPr>
          <xfrm>
            <off x="4488872" y="3291839"/>
            <ext cx="45886254" cy="698269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ctr">
              <lnSpc>
                <spcPct val="115000"/>
              </lnSpc>
            </pPr>
            <r>
              <rPr sz="3054" b="0" i="0">
                <solidFill>
                  <srgbClr val="2A2A2A"/>
                </solidFill>
                <latin typeface="Georgia"/>
              </rPr>
              <t>Gillian Schriever  ·  Jiahui (Cecilia) Cai  ·  Zhilin Chen  ·  Jinghan Huang</t>
            </r>
          </p>
        </p:txBody>
      </p:sp>
      <p:sp>
        <p:nvSpPr>
          <p:cNvPr id="9" name="TextBox 8"/>
          <p:cNvSpPr txBox="1"/>
          <p:nvPr/>
        </p:nvSpPr>
        <p:spPr>
          <xfrm>
            <off x="4488872" y="3990109"/>
            <ext cx="45886254" cy="598516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ctr">
              <lnSpc>
                <spcPct val="115000"/>
              </lnSpc>
            </pPr>
            <r>
              <rPr sz="2400" b="0" i="1">
                <solidFill>
                  <srgbClr val="2A2A2A"/>
                </solidFill>
                <latin typeface="Georgia"/>
              </rPr>
              <t>Harvard John A. Paulson School of Engineering and Applied Sciences  —  AC297r Capstone, Spring 2026</t>
            </r>
          </p>
        </p:txBody>
      </p:sp>
      <p:sp>
        <p:nvSpPr>
          <p:cNvPr id="10" name="Rectangle 9"/>
          <p:cNvSpPr/>
          <p:nvPr/>
        </p:nvSpPr>
        <p:spPr>
          <xfrm>
            <off x="0" y="4788130"/>
            <ext cx="54863999" cy="39901"/>
          </xfrm>
          <prstGeom prst="rect">
            <avLst/>
          </prstGeom>
          <solidFill>
            <srgbClr val="A51C30"/>
          </solidFill>
          <ln>
            <noFill/>
          </ln>
          <effectLst/>
        </p:spPr>
        <p:style>
          <lnRef idx="1">
            <schemeClr val="accent1"/>
          </lnRef>
          <fillRef idx="3">
            <schemeClr val="accent1"/>
          </fillRef>
          <effectRef idx="2">
            <schemeClr val="accent1"/>
          </effectRef>
          <fontRef idx="minor">
            <schemeClr val="lt1"/>
          </fontRef>
        </p:style>
        <p:txBody>
          <bodyPr rtlCol="0" anchor="ctr"/>
          <lstStyle/>
          <p>
            <pPr algn="ctr"/>
          </p>
        </p:txBody>
      </p:sp>
      <p:sp>
        <p:nvSpPr>
          <p:cNvPr id="11" name="TextBox 10"/>
          <p:cNvSpPr txBox="1"/>
          <p:nvPr/>
        </p:nvSpPr>
        <p:spPr>
          <xfrm>
            <off x="897774" y="5486400"/>
            <ext cx="17090967" cy="897774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15000"/>
              </lnSpc>
            </pPr>
            <r>
              <rPr sz="4581" b="1" i="0">
                <solidFill>
                  <srgbClr val="A51C30"/>
                </solidFill>
                <latin typeface="Calibri"/>
              </rPr>
              <t>THE QUESTION</t>
            </r>
          </p>
        </p:txBody>
      </p:sp>
      <p:sp>
        <p:nvSpPr>
          <p:cNvPr id="12" name="Rectangle 11"/>
          <p:cNvSpPr/>
          <p:nvPr/>
        </p:nvSpPr>
        <p:spPr>
          <xfrm>
            <off x="897774" y="6483927"/>
            <ext cx="5981838" cy="39901"/>
          </xfrm>
          <prstGeom prst="rect">
            <avLst/>
          </prstGeom>
          <solidFill>
            <srgbClr val="A51C30"/>
          </solidFill>
          <ln>
            <noFill/>
          </ln>
          <effectLst/>
        </p:spPr>
        <p:style>
          <lnRef idx="1">
            <schemeClr val="accent1"/>
          </lnRef>
          <fillRef idx="3">
            <schemeClr val="accent1"/>
          </fillRef>
          <effectRef idx="2">
            <schemeClr val="accent1"/>
          </effectRef>
          <fontRef idx="minor">
            <schemeClr val="lt1"/>
          </fontRef>
        </p:style>
        <p:txBody>
          <bodyPr rtlCol="0" anchor="ctr"/>
          <lstStyle/>
          <p>
            <pPr algn="ctr"/>
          </p>
        </p:txBody>
      </p:sp>
      <p:sp>
        <p:nvSpPr>
          <p:cNvPr id="13" name="TextBox 12"/>
          <p:cNvSpPr txBox="1"/>
          <p:nvPr/>
        </p:nvSpPr>
        <p:spPr>
          <xfrm>
            <off x="897774" y="6882938"/>
            <ext cx="17090967" cy="3391592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15000"/>
              </lnSpc>
            </pPr>
            <r>
              <rPr sz="3490" b="1" i="0">
                <solidFill>
                  <srgbClr val="2A2A2A"/>
                </solidFill>
                <latin typeface="Calibri"/>
              </rPr>
              <t>Can we detect crypto fraud without any labeled data?</t>
            </r>
          </p>
        </p:txBody>
      </p:sp>
      <p:sp>
        <p:nvSpPr>
          <p:cNvPr id="14" name="TextBox 13"/>
          <p:cNvSpPr txBox="1"/>
          <p:nvPr/>
        </p:nvSpPr>
        <p:spPr>
          <xfrm>
            <off x="897774" y="9875520"/>
            <ext cx="17090967" cy="8977745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Labels for crypto fraud are rare, slow to publish, and biased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toward high-profile cases. Supervised classifiers trained on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them don't generalize — the attacks evolve faster than the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labels.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/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We build a two-layer unsupervised pipeline: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/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  ① Flag tokens whose on-chain trading behavior looks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      statistically unusual.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/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  ② Estimate how likely that unusual behavior is to be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      intentional fraud (vs. a hack, bug, or large legitimate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      event).</t>
            </r>
          </p>
        </p:txBody>
      </p:sp>
      <p:sp>
        <p:nvSpPr>
          <p:cNvPr id="15" name="TextBox 14"/>
          <p:cNvSpPr txBox="1"/>
          <p:nvPr/>
        </p:nvSpPr>
        <p:spPr>
          <xfrm>
            <off x="18886516" y="5486400"/>
            <ext cx="17090967" cy="897774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15000"/>
              </lnSpc>
            </pPr>
            <r>
              <rPr sz="4581" b="1" i="0">
                <solidFill>
                  <srgbClr val="A51C30"/>
                </solidFill>
                <latin typeface="Calibri"/>
              </rPr>
              <t>METHODS</t>
            </r>
          </p>
        </p:txBody>
      </p:sp>
      <p:sp>
        <p:nvSpPr>
          <p:cNvPr id="16" name="Rectangle 15"/>
          <p:cNvSpPr/>
          <p:nvPr/>
        </p:nvSpPr>
        <p:spPr>
          <xfrm>
            <off x="18886516" y="6483927"/>
            <ext cx="5981838" cy="39901"/>
          </xfrm>
          <prstGeom prst="rect">
            <avLst/>
          </prstGeom>
          <solidFill>
            <srgbClr val="A51C30"/>
          </solidFill>
          <ln>
            <noFill/>
          </ln>
          <effectLst/>
        </p:spPr>
        <p:style>
          <lnRef idx="1">
            <schemeClr val="accent1"/>
          </lnRef>
          <fillRef idx="3">
            <schemeClr val="accent1"/>
          </fillRef>
          <effectRef idx="2">
            <schemeClr val="accent1"/>
          </effectRef>
          <fontRef idx="minor">
            <schemeClr val="lt1"/>
          </fontRef>
        </p:style>
        <p:txBody>
          <bodyPr rtlCol="0" anchor="ctr"/>
          <lstStyle/>
          <p>
            <pPr algn="ctr"/>
          </p>
        </p:txBody>
      </p:sp>
      <p:sp>
        <p:nvSpPr>
          <p:cNvPr id="17" name="TextBox 16"/>
          <p:cNvSpPr txBox="1"/>
          <p:nvPr/>
        </p:nvSpPr>
        <p:spPr>
          <xfrm>
            <off x="18886516" y="6882938"/>
            <ext cx="17090967" cy="13466618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Data. 4,334 mid-cap ERC-20 tokens on Ethereum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(Dune Analytics, 365-day window, $1M–$1B annual volume).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/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Features (6). Volume spike ratio, peak daily volume, days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traded, max single-trade dominance, and two 24-hour post-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launch velocity features.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/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Layer 1 — three independent detectors: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    •  Isolation Forest (tree-based outlier detection)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    •  DBSCAN (density clustering; we keep the noise points)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    •  PCA + Mahalanobis distance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/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We rank-average their outputs into a single continuous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suspicion score in [0, 1], replacing the legacy three-detector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yes/no vote.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/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Layer 2. Logistic regression (L2-regularized) fit on n=14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hand-validated tokens, mapping suspicious-behavior features</t>
            </r>
          </p>
          <p>
            <pPr algn="l">
              <lnSpc>
                <spcPct val="125000"/>
              </lnSpc>
            </pPr>
            <r>
              <rPr sz="2618" b="0" i="0">
                <solidFill>
                  <srgbClr val="2A2A2A"/>
                </solidFill>
                <latin typeface="Calibri"/>
              </rPr>
              <t>to P(fraud). Evaluated with leave-one-out cross-validation.</t>
            </r>
          </p>
        </p:txBody>
      </p:sp>
      <p:sp>
        <p:nvSpPr>
          <p:cNvPr id="18" name="TextBox 17"/>
          <p:cNvSpPr txBox="1"/>
          <p:nvPr/>
        </p:nvSpPr>
        <p:spPr>
          <xfrm>
            <off x="36875258" y="5486400"/>
            <ext cx="17090967" cy="897774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15000"/>
              </lnSpc>
            </pPr>
            <r>
              <rPr sz="4581" b="1" i="0">
                <solidFill>
                  <srgbClr val="A51C30"/>
                </solidFill>
                <latin typeface="Calibri"/>
              </rPr>
              <t>RESULTS</t>
            </r>
          </p>
        </p:txBody>
      </p:sp>
      <p:sp>
        <p:nvSpPr>
          <p:cNvPr id="19" name="Rectangle 18"/>
          <p:cNvSpPr/>
          <p:nvPr/>
        </p:nvSpPr>
        <p:spPr>
          <xfrm>
            <off x="36875258" y="6483927"/>
            <ext cx="5981838" cy="39901"/>
          </xfrm>
          <prstGeom prst="rect">
            <avLst/>
          </prstGeom>
          <solidFill>
            <srgbClr val="A51C30"/>
          </solidFill>
          <ln>
            <noFill/>
          </ln>
          <effectLst/>
        </p:spPr>
        <p:style>
          <lnRef idx="1">
            <schemeClr val="accent1"/>
          </lnRef>
          <fillRef idx="3">
            <schemeClr val="accent1"/>
          </fillRef>
          <effectRef idx="2">
            <schemeClr val="accent1"/>
          </effectRef>
          <fontRef idx="minor">
            <schemeClr val="lt1"/>
          </fontRef>
        </p:style>
        <p:txBody>
          <bodyPr rtlCol="0" anchor="ctr"/>
          <lstStyle/>
          <p>
            <pPr algn="ctr"/>
          </p>
        </p:txBody>
      </p:sp>
      <p:sp>
        <p:nvSpPr>
          <p:cNvPr id="20" name="Rounded Rectangle 19"/>
          <p:cNvSpPr/>
          <p:nvPr/>
        </p:nvSpPr>
        <p:spPr>
          <xfrm>
            <off x="36875258" y="6882938"/>
            <ext cx="17090967" cy="3192087"/>
          </xfrm>
          <prstGeom prst="roundRect">
            <avLst>
              <gd name="adj" fmla="val 6000"/>
            </avLst>
          </prstGeom>
          <solidFill>
            <srgbClr val="F5F5F5"/>
          </solidFill>
          <ln w="9525">
            <solidFill>
              <srgbClr val="D8D8D8"/>
            </solidFill>
          </ln>
          <effectLst/>
        </p:spPr>
        <p:style>
          <lnRef idx="1">
            <schemeClr val="accent1"/>
          </lnRef>
          <fillRef idx="3">
            <schemeClr val="accent1"/>
          </fillRef>
          <effectRef idx="2">
            <schemeClr val="accent1"/>
          </effectRef>
          <fontRef idx="minor">
            <schemeClr val="lt1"/>
          </fontRef>
        </p:style>
        <p:txBody>
          <bodyPr rtlCol="0" anchor="ctr"/>
          <lstStyle/>
          <p>
            <pPr algn="ctr"/>
          </p>
        </p:txBody>
      </p:sp>
      <p:sp>
        <p:nvSpPr>
          <p:cNvPr id="21" name="TextBox 20"/>
          <p:cNvSpPr txBox="1"/>
          <p:nvPr/>
        </p:nvSpPr>
        <p:spPr>
          <xfrm>
            <off x="36875258" y="7032567"/>
            <ext cx="17090967" cy="1596043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ctr">
              <lnSpc>
                <spcPct val="115000"/>
              </lnSpc>
            </pPr>
            <r>
              <rPr sz="10472" b="1" i="0">
                <solidFill>
                  <srgbClr val="A51C30"/>
                </solidFill>
                <latin typeface="Georgia"/>
              </rPr>
              <t>6 / 6</t>
            </r>
          </p>
        </p:txBody>
      </p:sp>
      <p:sp>
        <p:nvSpPr>
          <p:cNvPr id="22" name="TextBox 21"/>
          <p:cNvSpPr txBox="1"/>
          <p:nvPr/>
        </p:nvSpPr>
        <p:spPr>
          <xfrm>
            <off x="36875258" y="8778240"/>
            <ext cx="17090967" cy="1197032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ctr">
              <lnSpc>
                <spcPct val="120000"/>
              </lnSpc>
            </pPr>
            <r>
              <rPr sz="2400" b="0" i="1">
                <solidFill>
                  <srgbClr val="2A2A2A"/>
                </solidFill>
                <latin typeface="Calibri"/>
              </rPr>
              <t>known frauds recovered at the p90 suspicion cutoff.</t>
            </r>
          </p>
          <p>
            <pPr algn="ctr">
              <lnSpc>
                <spcPct val="120000"/>
              </lnSpc>
            </pPr>
            <r>
              <rPr sz="2400" b="0" i="1">
                <solidFill>
                  <srgbClr val="2A2A2A"/>
                </solidFill>
                <latin typeface="Calibri"/>
              </rPr>
              <t>The legacy three-vote consensus recovered 1 of 6.</t>
            </r>
          </p>
        </p:txBody>
      </p:sp>
      <p:pic>
        <p:nvPicPr>
          <p:cNvPr id="23" name="Picture 22" descr="baseline_comparison.png"/>
          <p:cNvPicPr>
            <picLocks noChangeAspect="1"/>
          </p:cNvPicPr>
          <p:nvPr/>
        </p:nvPicPr>
        <p:blipFill>
          <blip ns2:embed="rId2"/>
          <stretch>
            <fillRect/>
          </stretch>
        </p:blipFill>
        <p:spPr>
          <xfrm>
            <off x="36875258" y="10474036"/>
            <ext cx="17090967" cy="6483927"/>
          </xfrm>
          <prstGeom prst="rect">
            <avLst/>
          </prstGeom>
        </p:spPr>
      </p:pic>
      <p:sp>
        <p:nvSpPr>
          <p:cNvPr id="24" name="TextBox 23"/>
          <p:cNvSpPr txBox="1"/>
          <p:nvPr/>
        </p:nvSpPr>
        <p:spPr>
          <xfrm>
            <off x="36875258" y="17007840"/>
            <ext cx="17090967" cy="798021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ctr">
              <lnSpc>
                <spcPct val="115000"/>
              </lnSpc>
            </pPr>
            <r>
              <rPr sz="2400" b="0" i="1">
                <solidFill>
                  <srgbClr val="2A2A2A"/>
                </solidFill>
                <latin typeface="Calibri"/>
              </rPr>
              <t>Fig. 1.  Fraud recall on the validated subset (n=6 fraud, 8 non-fraud</t>
            </r>
          </p>
          <p>
            <pPr algn="ctr">
              <lnSpc>
                <spcPct val="115000"/>
              </lnSpc>
            </pPr>
            <r>
              <rPr sz="2400" b="0" i="1">
                <solidFill>
                  <srgbClr val="2A2A2A"/>
                </solidFill>
                <latin typeface="Calibri"/>
              </rPr>
              <t>anomaly). Continuous suspicion score catches all known fraud where</t>
            </r>
          </p>
          <p>
            <pPr algn="ctr">
              <lnSpc>
                <spcPct val="115000"/>
              </lnSpc>
            </pPr>
            <r>
              <rPr sz="2400" b="0" i="1">
                <solidFill>
                  <srgbClr val="2A2A2A"/>
                </solidFill>
                <latin typeface="Calibri"/>
              </rPr>
              <t>the legacy consensus vote catches one.</t>
            </r>
          </p>
        </p:txBody>
      </p:sp>
      <p:pic>
        <p:nvPicPr>
          <p:cNvPr id="25" name="Picture 24" descr="shap_global_importance.png"/>
          <p:cNvPicPr>
            <picLocks noChangeAspect="1"/>
          </p:cNvPicPr>
          <p:nvPr/>
        </p:nvPicPr>
        <p:blipFill>
          <blip ns2:embed="rId3"/>
          <stretch>
            <fillRect/>
          </stretch>
        </p:blipFill>
        <p:spPr>
          <xfrm>
            <off x="36875258" y="18554007"/>
            <ext cx="17090967" cy="5187141"/>
          </xfrm>
          <prstGeom prst="rect">
            <avLst/>
          </prstGeom>
        </p:spPr>
      </p:pic>
      <p:sp>
        <p:nvSpPr>
          <p:cNvPr id="26" name="TextBox 25"/>
          <p:cNvSpPr txBox="1"/>
          <p:nvPr/>
        </p:nvSpPr>
        <p:spPr>
          <xfrm>
            <off x="36875258" y="23791025"/>
            <ext cx="17090967" cy="798021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ctr">
              <lnSpc>
                <spcPct val="115000"/>
              </lnSpc>
            </pPr>
            <r>
              <rPr sz="2400" b="0" i="1">
                <solidFill>
                  <srgbClr val="2A2A2A"/>
                </solidFill>
                <latin typeface="Calibri"/>
              </rPr>
              <t>Fig. 2.  SHAP attribution on Isolation Forest.  Early 24-hour</t>
            </r>
          </p>
          <p>
            <pPr algn="ctr">
              <lnSpc>
                <spcPct val="115000"/>
              </lnSpc>
            </pPr>
            <r>
              <rPr sz="2400" b="0" i="1">
                <solidFill>
                  <srgbClr val="2A2A2A"/>
                </solidFill>
                <latin typeface="Calibri"/>
              </rPr>
              <t>velocity outranks the legacy headline feature (volume spike ratio).</t>
            </r>
          </p>
        </p:txBody>
      </p:sp>
      <p:sp>
        <p:nvSpPr>
          <p:cNvPr id="27" name="Rounded Rectangle 26"/>
          <p:cNvSpPr/>
          <p:nvPr/>
        </p:nvSpPr>
        <p:spPr>
          <xfrm>
            <off x="897774" y="35412218"/>
            <ext cx="53068450" cy="5187141"/>
          </xfrm>
          <prstGeom prst="roundRect">
            <avLst>
              <gd name="adj" fmla="val 3000"/>
            </avLst>
          </prstGeom>
          <solidFill>
            <srgbClr val="A51C30"/>
          </solidFill>
          <ln>
            <noFill/>
          </ln>
          <effectLst/>
        </p:spPr>
        <p:style>
          <lnRef idx="1">
            <schemeClr val="accent1"/>
          </lnRef>
          <fillRef idx="3">
            <schemeClr val="accent1"/>
          </fillRef>
          <effectRef idx="2">
            <schemeClr val="accent1"/>
          </effectRef>
          <fontRef idx="minor">
            <schemeClr val="lt1"/>
          </fontRef>
        </p:style>
        <p:txBody>
          <bodyPr rtlCol="0" anchor="ctr"/>
          <lstStyle/>
          <p>
            <pPr algn="ctr"/>
          </p>
        </p:txBody>
      </p:sp>
      <p:sp>
        <p:nvSpPr>
          <p:cNvPr id="28" name="TextBox 27"/>
          <p:cNvSpPr txBox="1"/>
          <p:nvPr/>
        </p:nvSpPr>
        <p:spPr>
          <xfrm>
            <off x="1496290" y="35711476"/>
            <ext cx="51871418" cy="1097280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15000"/>
              </lnSpc>
            </pPr>
            <r>
              <rPr sz="3490" b="1" i="0">
                <solidFill>
                  <srgbClr val="FFFFFF"/>
                </solidFill>
                <latin typeface="Calibri"/>
              </rPr>
              <t>SO WHAT</t>
            </r>
          </p>
        </p:txBody>
      </p:sp>
      <p:sp>
        <p:nvSpPr>
          <p:cNvPr id="29" name="TextBox 28"/>
          <p:cNvSpPr txBox="1"/>
          <p:nvPr/>
        </p:nvSpPr>
        <p:spPr>
          <xfrm>
            <off x="1496290" y="36808756"/>
            <ext cx="51871418" cy="3690850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25000"/>
              </lnSpc>
            </pPr>
            <r>
              <rPr sz="2836" b="0" i="0">
                <solidFill>
                  <srgbClr val="FFFFFF"/>
                </solidFill>
                <latin typeface="Calibri"/>
              </rPr>
              <t>Continuous ranking beats discrete voting.  A rank-averaged suspicion score recovered 6/6 known</t>
            </r>
          </p>
          <p>
            <pPr algn="l">
              <lnSpc>
                <spcPct val="125000"/>
              </lnSpc>
            </pPr>
            <r>
              <rPr sz="2836" b="0" i="0">
                <solidFill>
                  <srgbClr val="FFFFFF"/>
                </solidFill>
                <latin typeface="Calibri"/>
              </rPr>
              <t>frauds on the validated subset; the legacy "3 of 3 detectors agree" rule recovered 1/6.</t>
            </r>
          </p>
          <p>
            <pPr algn="l">
              <lnSpc>
                <spcPct val="125000"/>
              </lnSpc>
            </pPr>
            <r>
              <rPr sz="2836" b="0" i="0">
                <solidFill>
                  <srgbClr val="FFFFFF"/>
                </solidFill>
                <latin typeface="Calibri"/>
              </rPr>
              <t/>
            </r>
          </p>
          <p>
            <pPr algn="l">
              <lnSpc>
                <spcPct val="125000"/>
              </lnSpc>
            </pPr>
            <r>
              <rPr sz="2836" b="0" i="0">
                <solidFill>
                  <srgbClr val="FFFFFF"/>
                </solidFill>
                <latin typeface="Calibri"/>
              </rPr>
              <t>Two layers separate 'anomaly' from 'fraud.'  The Layer-2 calibrator cleanly distinguishes rug-pulls</t>
            </r>
          </p>
          <p>
            <pPr algn="l">
              <lnSpc>
                <spcPct val="125000"/>
              </lnSpc>
            </pPr>
            <r>
              <rPr sz="2836" b="0" i="0">
                <solidFill>
                  <srgbClr val="FFFFFF"/>
                </solidFill>
                <latin typeface="Calibri"/>
              </rPr>
              <t>(P ≈ 0.5–0.7) from large legitimate events like hacks and de-peg shocks (P ≈ 0.1–0.2).</t>
            </r>
          </p>
          <p>
            <pPr algn="l">
              <lnSpc>
                <spcPct val="125000"/>
              </lnSpc>
            </pPr>
            <r>
              <rPr sz="2836" b="0" i="0">
                <solidFill>
                  <srgbClr val="FFFFFF"/>
                </solidFill>
                <latin typeface="Calibri"/>
              </rPr>
              <t/>
            </r>
          </p>
          <p>
            <pPr algn="l">
              <lnSpc>
                <spcPct val="125000"/>
              </lnSpc>
            </pPr>
            <r>
              <rPr sz="2836" b="0" i="0">
                <solidFill>
                  <srgbClr val="FFFFFF"/>
                </solidFill>
                <latin typeface="Calibri"/>
              </rPr>
              <t>Key caveat.  The calibration layer is trained on only 14 hand-validated tokens; expanding that</t>
            </r>
          </p>
          <p>
            <pPr algn="l">
              <lnSpc>
                <spcPct val="125000"/>
              </lnSpc>
            </pPr>
            <r>
              <rPr sz="2836" b="0" i="0">
                <solidFill>
                  <srgbClr val="FFFFFF"/>
                </solidFill>
                <latin typeface="Calibri"/>
              </rPr>
              <t>labeled set is the single most valuable next step.</t>
            </r>
          </p>
        </p:txBody>
      </p:sp>
      <p:sp>
        <p:nvSpPr>
          <p:cNvPr id="30" name="TextBox 29"/>
          <p:cNvSpPr txBox="1"/>
          <p:nvPr/>
        </p:nvSpPr>
        <p:spPr>
          <xfrm>
            <off x="897774" y="40998370"/>
            <ext cx="26534225" cy="2493818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30000"/>
              </lnSpc>
            </pPr>
            <r>
              <rPr sz="2400" b="0" i="0">
                <solidFill>
                  <srgbClr val="2A2A2A"/>
                </solidFill>
                <latin typeface="Calibri"/>
              </rPr>
              <t>Code:      github.com/gschriever/AC297r-crypto-fraud-detector</t>
            </r>
          </p>
          <p>
            <pPr algn="l">
              <lnSpc>
                <spcPct val="130000"/>
              </lnSpc>
            </pPr>
            <r>
              <rPr sz="2400" b="0" i="0">
                <solidFill>
                  <srgbClr val="2A2A2A"/>
                </solidFill>
                <latin typeface="Calibri"/>
              </rPr>
              <t>Contact:   [ name ]  ·  [ email ]</t>
            </r>
          </p>
          <p>
            <pPr algn="l">
              <lnSpc>
                <spcPct val="130000"/>
              </lnSpc>
            </pPr>
            <r>
              <rPr sz="2400" b="0" i="0">
                <solidFill>
                  <srgbClr val="2A2A2A"/>
                </solidFill>
                <latin typeface="Calibri"/>
              </rPr>
              <t>Advisor:   [ advisor ]</t>
            </r>
          </p>
        </p:txBody>
      </p:sp>
      <p:sp>
        <p:nvSpPr>
          <p:cNvPr id="31" name="TextBox 30"/>
          <p:cNvSpPr txBox="1"/>
          <p:nvPr/>
        </p:nvSpPr>
        <p:spPr>
          <xfrm>
            <off x="27431999" y="40998370"/>
            <ext cx="26534225" cy="2493818"/>
          </xfrm>
          <prstGeom prst="rect">
            <avLst/>
          </prstGeom>
          <noFill/>
        </p:spPr>
        <p:txBody>
          <bodyPr wrap="square" anchor="t">
            <spAutoFit/>
          </bodyPr>
          <lstStyle/>
          <p>
            <pPr algn="l">
              <lnSpc>
                <spcPct val="130000"/>
              </lnSpc>
            </pPr>
            <r>
              <rPr sz="2400" b="0" i="0">
                <solidFill>
                  <srgbClr val="2A2A2A"/>
                </solidFill>
                <latin typeface="Calibri"/>
              </rPr>
              <t>[1] Mazorra et al.  Do Not Rug on Me.  arXiv:2201.07220, 2022.</t>
            </r>
          </p>
          <p>
            <pPr algn="l">
              <lnSpc>
                <spcPct val="130000"/>
              </lnSpc>
            </pPr>
            <r>
              <rPr sz="2400" b="0" i="0">
                <solidFill>
                  <srgbClr val="2A2A2A"/>
                </solidFill>
                <latin typeface="Calibri"/>
              </rPr>
              <t>[2] Liu, Ting &amp; Zhou.  Isolation Forest.  ICDM 2008.</t>
            </r>
          </p>
          <p>
            <pPr algn="l">
              <lnSpc>
                <spcPct val="130000"/>
              </lnSpc>
            </pPr>
            <r>
              <rPr sz="2400" b="0" i="0">
                <solidFill>
                  <srgbClr val="2A2A2A"/>
                </solidFill>
                <latin typeface="Calibri"/>
              </rPr>
              <t>[3] Lundberg &amp; Lee.  SHAP.  NeurIPS 2017.</t>
            </r>
          </p>
        </p:txBody>
      </p:sp>
    </p:spTree>
  </p:cSld>
  <p:clrMapOvr>
    <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