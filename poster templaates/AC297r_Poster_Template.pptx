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45720000" cy="36576000"/>
  <p:notesSz cx="6858000" cy="9144000"/>
  <p:defaultTextStyle>
    <a:defPPr>
      <a:defRPr lang="en-US"/>
    </a:defPPr>
    <a:lvl1pPr marL="0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1pPr>
    <a:lvl2pPr marL="415595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2pPr>
    <a:lvl3pPr marL="831190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3pPr>
    <a:lvl4pPr marL="1246784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4pPr>
    <a:lvl5pPr marL="1662379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5pPr>
    <a:lvl6pPr marL="2077974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6pPr>
    <a:lvl7pPr marL="2493569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7pPr>
    <a:lvl8pPr marL="2909164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8pPr>
    <a:lvl9pPr marL="3324758" algn="l" defTabSz="415595" rtl="0" eaLnBrk="1" latinLnBrk="0" hangingPunct="1">
      <a:defRPr sz="163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4" userDrawn="1">
          <p15:clr>
            <a:srgbClr val="A4A3A4"/>
          </p15:clr>
        </p15:guide>
        <p15:guide id="2" pos="2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>
        <p:scale>
          <a:sx n="10" d="100"/>
          <a:sy n="10" d="100"/>
        </p:scale>
        <p:origin x="3984" y="1640"/>
      </p:cViewPr>
      <p:guideLst>
        <p:guide orient="horz" pos="1964"/>
        <p:guide pos="261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455" y="1936751"/>
            <a:ext cx="7065818" cy="133638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6909" y="3532909"/>
            <a:ext cx="5818909" cy="159327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5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312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69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625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82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938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94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25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6648" y="4006273"/>
            <a:ext cx="7065818" cy="1238250"/>
          </a:xfrm>
        </p:spPr>
        <p:txBody>
          <a:bodyPr anchor="t"/>
          <a:lstStyle>
            <a:lvl1pPr algn="l">
              <a:defRPr sz="3636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6648" y="2642467"/>
            <a:ext cx="7065818" cy="1363806"/>
          </a:xfrm>
        </p:spPr>
        <p:txBody>
          <a:bodyPr anchor="b"/>
          <a:lstStyle>
            <a:lvl1pPr marL="0" indent="0">
              <a:buNone/>
              <a:defRPr sz="1818">
                <a:solidFill>
                  <a:schemeClr val="tx1">
                    <a:tint val="75000"/>
                  </a:schemeClr>
                </a:solidFill>
              </a:defRPr>
            </a:lvl1pPr>
            <a:lvl2pPr marL="415641" indent="0">
              <a:buNone/>
              <a:defRPr sz="1636">
                <a:solidFill>
                  <a:schemeClr val="tx1">
                    <a:tint val="75000"/>
                  </a:schemeClr>
                </a:solidFill>
              </a:defRPr>
            </a:lvl2pPr>
            <a:lvl3pPr marL="831281" indent="0">
              <a:buNone/>
              <a:defRPr sz="1455">
                <a:solidFill>
                  <a:schemeClr val="tx1">
                    <a:tint val="75000"/>
                  </a:schemeClr>
                </a:solidFill>
              </a:defRPr>
            </a:lvl3pPr>
            <a:lvl4pPr marL="1246922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4pPr>
            <a:lvl5pPr marL="1662562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5pPr>
            <a:lvl6pPr marL="2078203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6pPr>
            <a:lvl7pPr marL="2493843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7pPr>
            <a:lvl8pPr marL="2909484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8pPr>
            <a:lvl9pPr marL="3325124" indent="0">
              <a:buNone/>
              <a:defRPr sz="127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5636" y="1454728"/>
            <a:ext cx="3671455" cy="4114512"/>
          </a:xfrm>
        </p:spPr>
        <p:txBody>
          <a:bodyPr/>
          <a:lstStyle>
            <a:lvl1pPr>
              <a:defRPr sz="2545"/>
            </a:lvl1pPr>
            <a:lvl2pPr>
              <a:defRPr sz="2182"/>
            </a:lvl2pPr>
            <a:lvl3pPr>
              <a:defRPr sz="1818"/>
            </a:lvl3pPr>
            <a:lvl4pPr>
              <a:defRPr sz="1636"/>
            </a:lvl4pPr>
            <a:lvl5pPr>
              <a:defRPr sz="1636"/>
            </a:lvl5pPr>
            <a:lvl6pPr>
              <a:defRPr sz="1636"/>
            </a:lvl6pPr>
            <a:lvl7pPr>
              <a:defRPr sz="1636"/>
            </a:lvl7pPr>
            <a:lvl8pPr>
              <a:defRPr sz="1636"/>
            </a:lvl8pPr>
            <a:lvl9pPr>
              <a:defRPr sz="16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25636" y="1454728"/>
            <a:ext cx="3671455" cy="4114512"/>
          </a:xfrm>
        </p:spPr>
        <p:txBody>
          <a:bodyPr/>
          <a:lstStyle>
            <a:lvl1pPr>
              <a:defRPr sz="2545"/>
            </a:lvl1pPr>
            <a:lvl2pPr>
              <a:defRPr sz="2182"/>
            </a:lvl2pPr>
            <a:lvl3pPr>
              <a:defRPr sz="1818"/>
            </a:lvl3pPr>
            <a:lvl4pPr>
              <a:defRPr sz="1636"/>
            </a:lvl4pPr>
            <a:lvl5pPr>
              <a:defRPr sz="1636"/>
            </a:lvl5pPr>
            <a:lvl6pPr>
              <a:defRPr sz="1636"/>
            </a:lvl6pPr>
            <a:lvl7pPr>
              <a:defRPr sz="1636"/>
            </a:lvl7pPr>
            <a:lvl8pPr>
              <a:defRPr sz="1636"/>
            </a:lvl8pPr>
            <a:lvl9pPr>
              <a:defRPr sz="16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5636" y="1395557"/>
            <a:ext cx="3672898" cy="581602"/>
          </a:xfrm>
        </p:spPr>
        <p:txBody>
          <a:bodyPr anchor="b"/>
          <a:lstStyle>
            <a:lvl1pPr marL="0" indent="0">
              <a:buNone/>
              <a:defRPr sz="2182" b="1"/>
            </a:lvl1pPr>
            <a:lvl2pPr marL="415641" indent="0">
              <a:buNone/>
              <a:defRPr sz="1818" b="1"/>
            </a:lvl2pPr>
            <a:lvl3pPr marL="831281" indent="0">
              <a:buNone/>
              <a:defRPr sz="1636" b="1"/>
            </a:lvl3pPr>
            <a:lvl4pPr marL="1246922" indent="0">
              <a:buNone/>
              <a:defRPr sz="1455" b="1"/>
            </a:lvl4pPr>
            <a:lvl5pPr marL="1662562" indent="0">
              <a:buNone/>
              <a:defRPr sz="1455" b="1"/>
            </a:lvl5pPr>
            <a:lvl6pPr marL="2078203" indent="0">
              <a:buNone/>
              <a:defRPr sz="1455" b="1"/>
            </a:lvl6pPr>
            <a:lvl7pPr marL="2493843" indent="0">
              <a:buNone/>
              <a:defRPr sz="1455" b="1"/>
            </a:lvl7pPr>
            <a:lvl8pPr marL="2909484" indent="0">
              <a:buNone/>
              <a:defRPr sz="1455" b="1"/>
            </a:lvl8pPr>
            <a:lvl9pPr marL="3325124" indent="0">
              <a:buNone/>
              <a:defRPr sz="14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5636" y="1977159"/>
            <a:ext cx="3672898" cy="3592080"/>
          </a:xfrm>
        </p:spPr>
        <p:txBody>
          <a:bodyPr/>
          <a:lstStyle>
            <a:lvl1pPr>
              <a:defRPr sz="2182"/>
            </a:lvl1pPr>
            <a:lvl2pPr>
              <a:defRPr sz="1818"/>
            </a:lvl2pPr>
            <a:lvl3pPr>
              <a:defRPr sz="1636"/>
            </a:lvl3pPr>
            <a:lvl4pPr>
              <a:defRPr sz="1455"/>
            </a:lvl4pPr>
            <a:lvl5pPr>
              <a:defRPr sz="1455"/>
            </a:lvl5pPr>
            <a:lvl6pPr>
              <a:defRPr sz="1455"/>
            </a:lvl6pPr>
            <a:lvl7pPr>
              <a:defRPr sz="1455"/>
            </a:lvl7pPr>
            <a:lvl8pPr>
              <a:defRPr sz="1455"/>
            </a:lvl8pPr>
            <a:lvl9pPr>
              <a:defRPr sz="14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22750" y="1395557"/>
            <a:ext cx="3674341" cy="581602"/>
          </a:xfrm>
        </p:spPr>
        <p:txBody>
          <a:bodyPr anchor="b"/>
          <a:lstStyle>
            <a:lvl1pPr marL="0" indent="0">
              <a:buNone/>
              <a:defRPr sz="2182" b="1"/>
            </a:lvl1pPr>
            <a:lvl2pPr marL="415641" indent="0">
              <a:buNone/>
              <a:defRPr sz="1818" b="1"/>
            </a:lvl2pPr>
            <a:lvl3pPr marL="831281" indent="0">
              <a:buNone/>
              <a:defRPr sz="1636" b="1"/>
            </a:lvl3pPr>
            <a:lvl4pPr marL="1246922" indent="0">
              <a:buNone/>
              <a:defRPr sz="1455" b="1"/>
            </a:lvl4pPr>
            <a:lvl5pPr marL="1662562" indent="0">
              <a:buNone/>
              <a:defRPr sz="1455" b="1"/>
            </a:lvl5pPr>
            <a:lvl6pPr marL="2078203" indent="0">
              <a:buNone/>
              <a:defRPr sz="1455" b="1"/>
            </a:lvl6pPr>
            <a:lvl7pPr marL="2493843" indent="0">
              <a:buNone/>
              <a:defRPr sz="1455" b="1"/>
            </a:lvl7pPr>
            <a:lvl8pPr marL="2909484" indent="0">
              <a:buNone/>
              <a:defRPr sz="1455" b="1"/>
            </a:lvl8pPr>
            <a:lvl9pPr marL="3325124" indent="0">
              <a:buNone/>
              <a:defRPr sz="145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22750" y="1977159"/>
            <a:ext cx="3674341" cy="3592080"/>
          </a:xfrm>
        </p:spPr>
        <p:txBody>
          <a:bodyPr/>
          <a:lstStyle>
            <a:lvl1pPr>
              <a:defRPr sz="2182"/>
            </a:lvl1pPr>
            <a:lvl2pPr>
              <a:defRPr sz="1818"/>
            </a:lvl2pPr>
            <a:lvl3pPr>
              <a:defRPr sz="1636"/>
            </a:lvl3pPr>
            <a:lvl4pPr>
              <a:defRPr sz="1455"/>
            </a:lvl4pPr>
            <a:lvl5pPr>
              <a:defRPr sz="1455"/>
            </a:lvl5pPr>
            <a:lvl6pPr>
              <a:defRPr sz="1455"/>
            </a:lvl6pPr>
            <a:lvl7pPr>
              <a:defRPr sz="1455"/>
            </a:lvl7pPr>
            <a:lvl8pPr>
              <a:defRPr sz="1455"/>
            </a:lvl8pPr>
            <a:lvl9pPr>
              <a:defRPr sz="14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7" y="248227"/>
            <a:ext cx="2734830" cy="1056409"/>
          </a:xfrm>
        </p:spPr>
        <p:txBody>
          <a:bodyPr anchor="b"/>
          <a:lstStyle>
            <a:lvl1pPr algn="l">
              <a:defRPr sz="181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0046" y="248228"/>
            <a:ext cx="4647045" cy="5321012"/>
          </a:xfrm>
        </p:spPr>
        <p:txBody>
          <a:bodyPr/>
          <a:lstStyle>
            <a:lvl1pPr>
              <a:defRPr sz="2909"/>
            </a:lvl1pPr>
            <a:lvl2pPr>
              <a:defRPr sz="2545"/>
            </a:lvl2pPr>
            <a:lvl3pPr>
              <a:defRPr sz="2182"/>
            </a:lvl3pPr>
            <a:lvl4pPr>
              <a:defRPr sz="1818"/>
            </a:lvl4pPr>
            <a:lvl5pPr>
              <a:defRPr sz="1818"/>
            </a:lvl5pPr>
            <a:lvl6pPr>
              <a:defRPr sz="1818"/>
            </a:lvl6pPr>
            <a:lvl7pPr>
              <a:defRPr sz="1818"/>
            </a:lvl7pPr>
            <a:lvl8pPr>
              <a:defRPr sz="1818"/>
            </a:lvl8pPr>
            <a:lvl9pPr>
              <a:defRPr sz="181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5637" y="1304637"/>
            <a:ext cx="2734830" cy="4264603"/>
          </a:xfrm>
        </p:spPr>
        <p:txBody>
          <a:bodyPr/>
          <a:lstStyle>
            <a:lvl1pPr marL="0" indent="0">
              <a:buNone/>
              <a:defRPr sz="1273"/>
            </a:lvl1pPr>
            <a:lvl2pPr marL="415641" indent="0">
              <a:buNone/>
              <a:defRPr sz="1091"/>
            </a:lvl2pPr>
            <a:lvl3pPr marL="831281" indent="0">
              <a:buNone/>
              <a:defRPr sz="909"/>
            </a:lvl3pPr>
            <a:lvl4pPr marL="1246922" indent="0">
              <a:buNone/>
              <a:defRPr sz="818"/>
            </a:lvl4pPr>
            <a:lvl5pPr marL="1662562" indent="0">
              <a:buNone/>
              <a:defRPr sz="818"/>
            </a:lvl5pPr>
            <a:lvl6pPr marL="2078203" indent="0">
              <a:buNone/>
              <a:defRPr sz="818"/>
            </a:lvl6pPr>
            <a:lvl7pPr marL="2493843" indent="0">
              <a:buNone/>
              <a:defRPr sz="818"/>
            </a:lvl7pPr>
            <a:lvl8pPr marL="2909484" indent="0">
              <a:buNone/>
              <a:defRPr sz="818"/>
            </a:lvl8pPr>
            <a:lvl9pPr marL="3325124" indent="0">
              <a:buNone/>
              <a:defRPr sz="8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353" y="4364182"/>
            <a:ext cx="4987636" cy="515216"/>
          </a:xfrm>
        </p:spPr>
        <p:txBody>
          <a:bodyPr anchor="b"/>
          <a:lstStyle>
            <a:lvl1pPr algn="l">
              <a:defRPr sz="181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29353" y="557068"/>
            <a:ext cx="4987636" cy="3740727"/>
          </a:xfrm>
        </p:spPr>
        <p:txBody>
          <a:bodyPr/>
          <a:lstStyle>
            <a:lvl1pPr marL="0" indent="0">
              <a:buNone/>
              <a:defRPr sz="2909"/>
            </a:lvl1pPr>
            <a:lvl2pPr marL="415641" indent="0">
              <a:buNone/>
              <a:defRPr sz="2545"/>
            </a:lvl2pPr>
            <a:lvl3pPr marL="831281" indent="0">
              <a:buNone/>
              <a:defRPr sz="2182"/>
            </a:lvl3pPr>
            <a:lvl4pPr marL="1246922" indent="0">
              <a:buNone/>
              <a:defRPr sz="1818"/>
            </a:lvl4pPr>
            <a:lvl5pPr marL="1662562" indent="0">
              <a:buNone/>
              <a:defRPr sz="1818"/>
            </a:lvl5pPr>
            <a:lvl6pPr marL="2078203" indent="0">
              <a:buNone/>
              <a:defRPr sz="1818"/>
            </a:lvl6pPr>
            <a:lvl7pPr marL="2493843" indent="0">
              <a:buNone/>
              <a:defRPr sz="1818"/>
            </a:lvl7pPr>
            <a:lvl8pPr marL="2909484" indent="0">
              <a:buNone/>
              <a:defRPr sz="1818"/>
            </a:lvl8pPr>
            <a:lvl9pPr marL="3325124" indent="0">
              <a:buNone/>
              <a:defRPr sz="1818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9353" y="4879398"/>
            <a:ext cx="4987636" cy="731693"/>
          </a:xfrm>
        </p:spPr>
        <p:txBody>
          <a:bodyPr/>
          <a:lstStyle>
            <a:lvl1pPr marL="0" indent="0">
              <a:buNone/>
              <a:defRPr sz="1273"/>
            </a:lvl1pPr>
            <a:lvl2pPr marL="415641" indent="0">
              <a:buNone/>
              <a:defRPr sz="1091"/>
            </a:lvl2pPr>
            <a:lvl3pPr marL="831281" indent="0">
              <a:buNone/>
              <a:defRPr sz="909"/>
            </a:lvl3pPr>
            <a:lvl4pPr marL="1246922" indent="0">
              <a:buNone/>
              <a:defRPr sz="818"/>
            </a:lvl4pPr>
            <a:lvl5pPr marL="1662562" indent="0">
              <a:buNone/>
              <a:defRPr sz="818"/>
            </a:lvl5pPr>
            <a:lvl6pPr marL="2078203" indent="0">
              <a:buNone/>
              <a:defRPr sz="818"/>
            </a:lvl6pPr>
            <a:lvl7pPr marL="2493843" indent="0">
              <a:buNone/>
              <a:defRPr sz="818"/>
            </a:lvl7pPr>
            <a:lvl8pPr marL="2909484" indent="0">
              <a:buNone/>
              <a:defRPr sz="818"/>
            </a:lvl8pPr>
            <a:lvl9pPr marL="3325124" indent="0">
              <a:buNone/>
              <a:defRPr sz="8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26727" y="249671"/>
            <a:ext cx="1870364" cy="53195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5637" y="249671"/>
            <a:ext cx="5472545" cy="53195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5636" y="249671"/>
            <a:ext cx="7481455" cy="10390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5636" y="1454728"/>
            <a:ext cx="7481455" cy="4114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5637" y="5778500"/>
            <a:ext cx="1939636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40182" y="5778500"/>
            <a:ext cx="2632364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57455" y="5778500"/>
            <a:ext cx="1939636" cy="331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5641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1730" indent="-311730" algn="l" defTabSz="415641" rtl="0" eaLnBrk="1" latinLnBrk="0" hangingPunct="1">
        <a:spcBef>
          <a:spcPct val="20000"/>
        </a:spcBef>
        <a:buFont typeface="Arial"/>
        <a:buChar char="•"/>
        <a:defRPr sz="2909" kern="1200">
          <a:solidFill>
            <a:schemeClr val="tx1"/>
          </a:solidFill>
          <a:latin typeface="+mn-lt"/>
          <a:ea typeface="+mn-ea"/>
          <a:cs typeface="+mn-cs"/>
        </a:defRPr>
      </a:lvl1pPr>
      <a:lvl2pPr marL="675416" indent="-259775" algn="l" defTabSz="415641" rtl="0" eaLnBrk="1" latinLnBrk="0" hangingPunct="1">
        <a:spcBef>
          <a:spcPct val="20000"/>
        </a:spcBef>
        <a:buFont typeface="Arial"/>
        <a:buChar char="–"/>
        <a:defRPr sz="2545" kern="1200">
          <a:solidFill>
            <a:schemeClr val="tx1"/>
          </a:solidFill>
          <a:latin typeface="+mn-lt"/>
          <a:ea typeface="+mn-ea"/>
          <a:cs typeface="+mn-cs"/>
        </a:defRPr>
      </a:lvl2pPr>
      <a:lvl3pPr marL="1039101" indent="-207820" algn="l" defTabSz="415641" rtl="0" eaLnBrk="1" latinLnBrk="0" hangingPunct="1">
        <a:spcBef>
          <a:spcPct val="20000"/>
        </a:spcBef>
        <a:buFont typeface="Arial"/>
        <a:buChar char="•"/>
        <a:defRPr sz="2182" kern="1200">
          <a:solidFill>
            <a:schemeClr val="tx1"/>
          </a:solidFill>
          <a:latin typeface="+mn-lt"/>
          <a:ea typeface="+mn-ea"/>
          <a:cs typeface="+mn-cs"/>
        </a:defRPr>
      </a:lvl3pPr>
      <a:lvl4pPr marL="1454742" indent="-207820" algn="l" defTabSz="415641" rtl="0" eaLnBrk="1" latinLnBrk="0" hangingPunct="1">
        <a:spcBef>
          <a:spcPct val="20000"/>
        </a:spcBef>
        <a:buFont typeface="Arial"/>
        <a:buChar char="–"/>
        <a:defRPr sz="1818" kern="1200">
          <a:solidFill>
            <a:schemeClr val="tx1"/>
          </a:solidFill>
          <a:latin typeface="+mn-lt"/>
          <a:ea typeface="+mn-ea"/>
          <a:cs typeface="+mn-cs"/>
        </a:defRPr>
      </a:lvl4pPr>
      <a:lvl5pPr marL="1870382" indent="-207820" algn="l" defTabSz="415641" rtl="0" eaLnBrk="1" latinLnBrk="0" hangingPunct="1">
        <a:spcBef>
          <a:spcPct val="20000"/>
        </a:spcBef>
        <a:buFont typeface="Arial"/>
        <a:buChar char="»"/>
        <a:defRPr sz="1818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3" indent="-207820" algn="l" defTabSz="415641" rtl="0" eaLnBrk="1" latinLnBrk="0" hangingPunct="1">
        <a:spcBef>
          <a:spcPct val="20000"/>
        </a:spcBef>
        <a:buFont typeface="Arial"/>
        <a:buChar char="•"/>
        <a:defRPr sz="1818" kern="1200">
          <a:solidFill>
            <a:schemeClr val="tx1"/>
          </a:solidFill>
          <a:latin typeface="+mn-lt"/>
          <a:ea typeface="+mn-ea"/>
          <a:cs typeface="+mn-cs"/>
        </a:defRPr>
      </a:lvl6pPr>
      <a:lvl7pPr marL="2701663" indent="-207820" algn="l" defTabSz="415641" rtl="0" eaLnBrk="1" latinLnBrk="0" hangingPunct="1">
        <a:spcBef>
          <a:spcPct val="20000"/>
        </a:spcBef>
        <a:buFont typeface="Arial"/>
        <a:buChar char="•"/>
        <a:defRPr sz="1818" kern="1200">
          <a:solidFill>
            <a:schemeClr val="tx1"/>
          </a:solidFill>
          <a:latin typeface="+mn-lt"/>
          <a:ea typeface="+mn-ea"/>
          <a:cs typeface="+mn-cs"/>
        </a:defRPr>
      </a:lvl7pPr>
      <a:lvl8pPr marL="3117304" indent="-207820" algn="l" defTabSz="415641" rtl="0" eaLnBrk="1" latinLnBrk="0" hangingPunct="1">
        <a:spcBef>
          <a:spcPct val="20000"/>
        </a:spcBef>
        <a:buFont typeface="Arial"/>
        <a:buChar char="•"/>
        <a:defRPr sz="1818" kern="1200">
          <a:solidFill>
            <a:schemeClr val="tx1"/>
          </a:solidFill>
          <a:latin typeface="+mn-lt"/>
          <a:ea typeface="+mn-ea"/>
          <a:cs typeface="+mn-cs"/>
        </a:defRPr>
      </a:lvl8pPr>
      <a:lvl9pPr marL="3532944" indent="-207820" algn="l" defTabSz="415641" rtl="0" eaLnBrk="1" latinLnBrk="0" hangingPunct="1">
        <a:spcBef>
          <a:spcPct val="20000"/>
        </a:spcBef>
        <a:buFont typeface="Arial"/>
        <a:buChar char="•"/>
        <a:defRPr sz="18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1pPr>
      <a:lvl2pPr marL="415641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2pPr>
      <a:lvl3pPr marL="831281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3pPr>
      <a:lvl4pPr marL="1246922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4pPr>
      <a:lvl5pPr marL="1662562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5pPr>
      <a:lvl6pPr marL="2078203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6pPr>
      <a:lvl7pPr marL="2493843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7pPr>
      <a:lvl8pPr marL="2909484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8pPr>
      <a:lvl9pPr marL="3325124" algn="l" defTabSz="415641" rtl="0" eaLnBrk="1" latinLnBrk="0" hangingPunct="1">
        <a:defRPr sz="16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0" cy="3657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pic>
        <p:nvPicPr>
          <p:cNvPr id="3" name="Picture 2" descr="harvard-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45" y="498764"/>
            <a:ext cx="2660073" cy="2992582"/>
          </a:xfrm>
          <a:prstGeom prst="rect">
            <a:avLst/>
          </a:prstGeom>
        </p:spPr>
      </p:pic>
      <p:pic>
        <p:nvPicPr>
          <p:cNvPr id="4" name="Picture 3" descr="H_SEAS_logo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0946" y="498764"/>
            <a:ext cx="10390909" cy="2992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740728" y="498763"/>
            <a:ext cx="38238545" cy="1701824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909" b="1">
                <a:solidFill>
                  <a:srgbClr val="A51C30"/>
                </a:solidFill>
                <a:latin typeface="Georgia"/>
              </a:rPr>
              <a:t>Detecting crypto fraud without labels:</a:t>
            </a:r>
          </a:p>
          <a:p>
            <a:pPr algn="ctr">
              <a:lnSpc>
                <a:spcPct val="105000"/>
              </a:lnSpc>
            </a:pPr>
            <a:r>
              <a:rPr sz="4909" b="1">
                <a:solidFill>
                  <a:srgbClr val="A51C30"/>
                </a:solidFill>
                <a:latin typeface="Georgia"/>
              </a:rPr>
              <a:t>14 of 15 known rug pulls recovered from 4,334 Ethereum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0728" y="2660073"/>
            <a:ext cx="38238545" cy="565551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364">
                <a:solidFill>
                  <a:srgbClr val="2A2A2A"/>
                </a:solidFill>
                <a:latin typeface="Georgia"/>
              </a:rPr>
              <a:t>Gillian Schriever  ·  Jiahui (Cecilia) Cai  ·  Zhilin Chen  ·  Jinghan Huang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0728" y="3241964"/>
            <a:ext cx="38238545" cy="473667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18" i="1">
                <a:solidFill>
                  <a:srgbClr val="2A2A2A"/>
                </a:solidFill>
                <a:latin typeface="Georgia"/>
              </a:rPr>
              <a:t>Harvard John A. Paulson School of Engineering and Applied Sciences  —  AC297r Capstone, Spring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3990109"/>
            <a:ext cx="45720000" cy="831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9" name="Rounded Rectangle 8"/>
          <p:cNvSpPr/>
          <p:nvPr/>
        </p:nvSpPr>
        <p:spPr>
          <a:xfrm>
            <a:off x="748146" y="4488873"/>
            <a:ext cx="14353309" cy="8312727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0" name="Round Same Side Corner Rectangle 9"/>
          <p:cNvSpPr/>
          <p:nvPr/>
        </p:nvSpPr>
        <p:spPr>
          <a:xfrm>
            <a:off x="748146" y="4488873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1" name="TextBox 10"/>
          <p:cNvSpPr txBox="1"/>
          <p:nvPr/>
        </p:nvSpPr>
        <p:spPr>
          <a:xfrm>
            <a:off x="1080655" y="4696691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① THE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3782" y="5943600"/>
            <a:ext cx="13522036" cy="2315260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[ Paste your 'question and motivation' text here. ]</a:t>
            </a:r>
          </a:p>
          <a:p>
            <a:pPr algn="l">
              <a:lnSpc>
                <a:spcPct val="130000"/>
              </a:lnSpc>
            </a:pPr>
            <a:endParaRPr sz="2182" i="1">
              <a:solidFill>
                <a:srgbClr val="8A99A8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Why fraud detection on-chain is hard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Why labels don't work in crypto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Our two-layer approach in 1–2 sentences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83346" y="4488873"/>
            <a:ext cx="14353309" cy="8312727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15683346" y="4488873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5" name="TextBox 14"/>
          <p:cNvSpPr txBox="1"/>
          <p:nvPr/>
        </p:nvSpPr>
        <p:spPr>
          <a:xfrm>
            <a:off x="16015855" y="4696691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②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8982" y="5943600"/>
            <a:ext cx="13522036" cy="3188320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[ Paste your objectives here. ]</a:t>
            </a:r>
          </a:p>
          <a:p>
            <a:pPr algn="l">
              <a:lnSpc>
                <a:spcPct val="130000"/>
              </a:lnSpc>
            </a:pPr>
            <a:endParaRPr sz="2182" i="1">
              <a:solidFill>
                <a:srgbClr val="8A99A8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Suggested: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Flag suspicious tokens without supervised labels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Distinguish fraud from other anomaly types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Validate against documented rug-pulls and hacks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Deliver an interpretable, reproducible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18546" y="4488873"/>
            <a:ext cx="14353309" cy="8312727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0618546" y="4488873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19" name="TextBox 18"/>
          <p:cNvSpPr txBox="1"/>
          <p:nvPr/>
        </p:nvSpPr>
        <p:spPr>
          <a:xfrm>
            <a:off x="30951055" y="4696691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③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34182" y="5943600"/>
            <a:ext cx="13522036" cy="3624850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[ Paste your methods here. ]</a:t>
            </a:r>
          </a:p>
          <a:p>
            <a:pPr algn="l">
              <a:lnSpc>
                <a:spcPct val="130000"/>
              </a:lnSpc>
            </a:pPr>
            <a:endParaRPr sz="2182" i="1">
              <a:solidFill>
                <a:srgbClr val="8A99A8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Suggested: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4,334 mid-cap ERC-20 tokens (Dune Analytics)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Six features; rank-averaged across three detectors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    (Isolation Forest + DBSCAN + PCA/Mahalanobis)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Layer-2 logistic regression on n = 144 labels,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    evaluated by leave-one-out CV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8146" y="13217236"/>
            <a:ext cx="14353309" cy="11637818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748146" y="13217236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23" name="TextBox 22"/>
          <p:cNvSpPr txBox="1"/>
          <p:nvPr/>
        </p:nvSpPr>
        <p:spPr>
          <a:xfrm>
            <a:off x="1080655" y="13425055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④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63782" y="14671964"/>
            <a:ext cx="13522036" cy="29925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CCDE"/>
            </a:solidFill>
          </a:ln>
          <a:effectLst>
            <a:outerShdw blurRad="76200" dist="25400" dir="2700000" algn="tl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25" name="TextBox 24"/>
          <p:cNvSpPr txBox="1"/>
          <p:nvPr/>
        </p:nvSpPr>
        <p:spPr>
          <a:xfrm>
            <a:off x="1163782" y="14755091"/>
            <a:ext cx="13522036" cy="1574673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364" b="1">
                <a:solidFill>
                  <a:srgbClr val="A51C30"/>
                </a:solidFill>
                <a:latin typeface="Georgia"/>
              </a:rPr>
              <a:t>14 /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3782" y="16459200"/>
            <a:ext cx="13522036" cy="816966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18" i="1">
                <a:solidFill>
                  <a:srgbClr val="2A2A2A"/>
                </a:solidFill>
                <a:latin typeface="Calibri"/>
              </a:rPr>
              <a:t>known frauds recovered at the p85 suspicion cutoff.</a:t>
            </a:r>
          </a:p>
          <a:p>
            <a:pPr algn="ctr">
              <a:lnSpc>
                <a:spcPct val="120000"/>
              </a:lnSpc>
            </a:pPr>
            <a:r>
              <a:rPr sz="1818" i="1">
                <a:solidFill>
                  <a:srgbClr val="2A2A2A"/>
                </a:solidFill>
                <a:latin typeface="Calibri"/>
              </a:rPr>
              <a:t>Legacy three-vote consensus recovered 4 of 15.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3782" y="17913927"/>
            <a:ext cx="13522036" cy="2751790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[ Paste any additional results text here. ]</a:t>
            </a:r>
          </a:p>
          <a:p>
            <a:pPr algn="l">
              <a:lnSpc>
                <a:spcPct val="130000"/>
              </a:lnSpc>
            </a:pPr>
            <a:endParaRPr sz="2182" i="1">
              <a:solidFill>
                <a:srgbClr val="8A99A8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Layer-2 LOO accuracy: 0.87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Specificity on non-fraud: 88%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Detected a coordinated rug cluster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    (ORBDEG / SPHERUM / ORBS)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683346" y="13217236"/>
            <a:ext cx="14353309" cy="11637818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15683346" y="13217236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30" name="TextBox 29"/>
          <p:cNvSpPr txBox="1"/>
          <p:nvPr/>
        </p:nvSpPr>
        <p:spPr>
          <a:xfrm>
            <a:off x="16015855" y="13425055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⑤ FIGURES</a:t>
            </a:r>
          </a:p>
        </p:txBody>
      </p:sp>
      <p:pic>
        <p:nvPicPr>
          <p:cNvPr id="31" name="Picture 30" descr="baseline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2109" y="14755091"/>
            <a:ext cx="13355782" cy="41563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182109" y="18936393"/>
            <a:ext cx="13355782" cy="481233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18" i="1">
                <a:solidFill>
                  <a:srgbClr val="2A2A2A"/>
                </a:solidFill>
                <a:latin typeface="Calibri"/>
              </a:rPr>
              <a:t>Fig. 1.  Fraud recall across strategies (n = 144).</a:t>
            </a:r>
          </a:p>
        </p:txBody>
      </p:sp>
      <p:pic>
        <p:nvPicPr>
          <p:cNvPr id="33" name="Picture 32" descr="shap_global_import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2109" y="19742727"/>
            <a:ext cx="13355782" cy="465512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6182109" y="24422793"/>
            <a:ext cx="13355782" cy="481233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18" i="1">
                <a:solidFill>
                  <a:srgbClr val="2A2A2A"/>
                </a:solidFill>
                <a:latin typeface="Calibri"/>
              </a:rPr>
              <a:t>Fig. 2.  SHAP importance — Isolation Forest.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18546" y="13217236"/>
            <a:ext cx="14353309" cy="11637818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0618546" y="13217236"/>
            <a:ext cx="143533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37" name="TextBox 36"/>
          <p:cNvSpPr txBox="1"/>
          <p:nvPr/>
        </p:nvSpPr>
        <p:spPr>
          <a:xfrm>
            <a:off x="30951055" y="13425055"/>
            <a:ext cx="136882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⑥ REFERENCES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34182" y="14671963"/>
            <a:ext cx="13522036" cy="5737416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[1]  Mazorra, B. et al.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Do Not Rug on Me: Zero-Dimensional Scam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Detection.  arXiv:2201.07220, 2022.</a:t>
            </a:r>
          </a:p>
          <a:p>
            <a:pPr algn="l">
              <a:lnSpc>
                <a:spcPct val="125000"/>
              </a:lnSpc>
            </a:pPr>
            <a:endParaRPr sz="1818">
              <a:solidFill>
                <a:srgbClr val="2A2A2A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[2]  Liu, F. T., Ting, K. M., &amp; Zhou, Z.-H.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Isolation Forest.  ICDM, 2008.</a:t>
            </a:r>
          </a:p>
          <a:p>
            <a:pPr algn="l">
              <a:lnSpc>
                <a:spcPct val="125000"/>
              </a:lnSpc>
            </a:pPr>
            <a:endParaRPr sz="1818">
              <a:solidFill>
                <a:srgbClr val="2A2A2A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[3]  Ester, M., Kriegel, H.-P., Sander, J., &amp; Xu, X.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A density-based algorithm for discovering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clusters.  KDD, 1996.</a:t>
            </a:r>
          </a:p>
          <a:p>
            <a:pPr algn="l">
              <a:lnSpc>
                <a:spcPct val="125000"/>
              </a:lnSpc>
            </a:pPr>
            <a:endParaRPr sz="1818">
              <a:solidFill>
                <a:srgbClr val="2A2A2A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[4]  Lundberg, S. M. &amp; Lee, S.-I.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A unified approach to interpreting model</a:t>
            </a: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       predictions.  NeurIPS, 2017.</a:t>
            </a:r>
          </a:p>
          <a:p>
            <a:pPr algn="l">
              <a:lnSpc>
                <a:spcPct val="125000"/>
              </a:lnSpc>
            </a:pPr>
            <a:endParaRPr sz="1818">
              <a:solidFill>
                <a:srgbClr val="2A2A2A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[ Add additional references here. ]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8146" y="25270691"/>
            <a:ext cx="44223709" cy="7315200"/>
          </a:xfrm>
          <a:prstGeom prst="roundRect">
            <a:avLst>
              <a:gd name="adj" fmla="val 5000"/>
            </a:avLst>
          </a:prstGeom>
          <a:solidFill>
            <a:srgbClr val="E8F1F8"/>
          </a:solidFill>
          <a:ln w="15875">
            <a:solidFill>
              <a:srgbClr val="B8CCDE"/>
            </a:solidFill>
          </a:ln>
          <a:effectLst>
            <a:outerShdw blurRad="127000" dist="50800" dir="2700000" algn="tl" rotWithShape="0">
              <a:srgbClr val="000000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748146" y="25270691"/>
            <a:ext cx="44223709" cy="1163782"/>
          </a:xfrm>
          <a:prstGeom prst="round2SameRect">
            <a:avLst>
              <a:gd name="adj1" fmla="val 22000"/>
              <a:gd name="adj2" fmla="val 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87"/>
          </a:p>
        </p:txBody>
      </p:sp>
      <p:sp>
        <p:nvSpPr>
          <p:cNvPr id="41" name="TextBox 40"/>
          <p:cNvSpPr txBox="1"/>
          <p:nvPr/>
        </p:nvSpPr>
        <p:spPr>
          <a:xfrm>
            <a:off x="1080655" y="25478509"/>
            <a:ext cx="43558691" cy="763362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55" b="1">
                <a:solidFill>
                  <a:srgbClr val="FFFFFF"/>
                </a:solidFill>
                <a:latin typeface="Calibri"/>
              </a:rPr>
              <a:t>⑦ CONCLUSIONS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3782" y="26725418"/>
            <a:ext cx="43392436" cy="4061379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[ Paste your conclusions / 'so what' here. ]</a:t>
            </a:r>
          </a:p>
          <a:p>
            <a:pPr algn="l">
              <a:lnSpc>
                <a:spcPct val="130000"/>
              </a:lnSpc>
            </a:pPr>
            <a:endParaRPr sz="2182" i="1">
              <a:solidFill>
                <a:srgbClr val="8A99A8"/>
              </a:solidFill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Suggested talking points: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Continuous ranking beats discrete voting (14 / 15 vs. 4 / 15 fraud recall) — the headline result of the project.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Two layers separate 'anomaly' from 'fraud.' Layer-2 specificity of 88% means blue-chip false alarms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    (WLFI, DEGEN, 3Crv, MIM) are correctly dismissed while known rugs (WFT, PLASMA, ORBDEG cluster) score &gt; 0.8.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Honest limitations — small-volume honeypots (HYPER, KUBO) still slip through; catching them needs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    graph-level signals (deployer history, liquidity-pool removal) beyond on-chain volume features.</a:t>
            </a:r>
          </a:p>
          <a:p>
            <a:pPr algn="l">
              <a:lnSpc>
                <a:spcPct val="130000"/>
              </a:lnSpc>
            </a:pPr>
            <a:r>
              <a:rPr sz="2182" i="1">
                <a:solidFill>
                  <a:srgbClr val="8A99A8"/>
                </a:solidFill>
                <a:latin typeface="Calibri"/>
              </a:rPr>
              <a:t>  •  Next step — grow the labeled registry further and add a Layer-3 graph feature set.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8146" y="32835273"/>
            <a:ext cx="44223709" cy="481233"/>
          </a:xfrm>
          <a:prstGeom prst="rect">
            <a:avLst/>
          </a:prstGeom>
          <a:noFill/>
        </p:spPr>
        <p:txBody>
          <a:bodyPr wrap="square" lIns="124691" tIns="83127" rIns="124691" bIns="83127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18">
                <a:solidFill>
                  <a:srgbClr val="2A2A2A"/>
                </a:solidFill>
                <a:latin typeface="Calibri"/>
              </a:rPr>
              <a:t>Code:  github.com/gschriever/AC297r-crypto-fraud-detector     Contact:  [ name ]  ·  [ email ]     Advisor:  [ advisor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571</Words>
  <Application>Microsoft Macintosh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Gillian Schriever</cp:lastModifiedBy>
  <cp:revision>2</cp:revision>
  <dcterms:created xsi:type="dcterms:W3CDTF">2013-01-27T09:14:16Z</dcterms:created>
  <dcterms:modified xsi:type="dcterms:W3CDTF">2026-04-24T17:43:46Z</dcterms:modified>
  <cp:category/>
</cp:coreProperties>
</file>