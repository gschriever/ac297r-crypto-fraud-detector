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9377600" cy="3840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0" cy="3840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49377600" cy="228600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640080"/>
            <a:ext cx="3200400" cy="365760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999999"/>
                </a:solidFill>
                <a:latin typeface="Calibri"/>
              </a:rPr>
              <a:t>[ shield / logo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0" y="640080"/>
            <a:ext cx="3200400" cy="365760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0" y="201168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999999"/>
                </a:solidFill>
                <a:latin typeface="Calibri"/>
              </a:rPr>
              <a:t>[ shield /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457200"/>
            <a:ext cx="3931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 i="0">
                <a:solidFill>
                  <a:srgbClr val="A51C30"/>
                </a:solidFill>
                <a:latin typeface="Georgia"/>
              </a:rPr>
              <a:t>[ Project Title — Unsupervised Crypto Fraud Detection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3931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Georgia"/>
              </a:rPr>
              <a:t>Gillian Schriever¹, Jiahui (Cecilia) Cai¹, Zhilin Chen¹, Jinghan Huang¹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566160"/>
            <a:ext cx="3931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  <a:latin typeface="Georgia"/>
              </a:rPr>
              <a:t>¹ Harvard John A. Paulson School of Engineering and Applied Sciences — AC297r Capstone, Spring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577840"/>
            <a:ext cx="23500080" cy="118872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760720"/>
            <a:ext cx="22951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A51C30"/>
                </a:solidFill>
                <a:latin typeface="Calibri"/>
              </a:rPr>
              <a:t>1. Background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858000"/>
            <a:ext cx="2258568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Traditional fraud detection relies on labeled datasets — rare and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quickly outdated in crypto. We instead build a two-layer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unsupervised system: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•  Layer 1 flags suspicious behavior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•  Layer 2 estimates P(fraud | suspicious)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Dataset: 4,334 mid-cap ERC-20 tokens on Ethereum (Dune Analytics,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365-day window, $1M–$1B annualized volume).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[ Why it matters: 1–2 sentences in plain English for the reader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who has 5 seconds at your poster. 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963120" y="5577840"/>
            <a:ext cx="23500080" cy="11887200"/>
          </a:xfrm>
          <a:prstGeom prst="roundRect">
            <a:avLst>
              <a:gd name="adj" fmla="val 4000"/>
            </a:avLst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37440" y="5760720"/>
            <a:ext cx="22951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A51C30"/>
                </a:solidFill>
                <a:latin typeface="Calibri"/>
              </a:rPr>
              <a:t>2.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0" y="6858000"/>
            <a:ext cx="2258568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Features (6): volume_spike_ratio, max_daily_volume, days_traded,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max_trade_dominance, early_velocity_ratio, early_trade_dominance.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Three independent anomaly detectors: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1. Isolation Forest (sparse outliers)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2. DBSCAN (density-based noise points)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3. PCA + Mahalanobis distance (multivariate extremes)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Rank-averaged to produce a continuous suspicion_score ∈ [0, 1].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Layer 2: logistic regression on n=14 hand-validated tokens (LOO-CV)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mapping suspicious-behavior features → P(fraud).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8013680"/>
            <a:ext cx="23500080" cy="11887200"/>
          </a:xfrm>
          <a:prstGeom prst="roundRect">
            <a:avLst>
              <a:gd name="adj" fmla="val 4000"/>
            </a:avLst>
          </a:prstGeom>
          <a:solidFill>
            <a:srgbClr val="FAF3E0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18196560"/>
            <a:ext cx="22951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A51C30"/>
                </a:solidFill>
                <a:latin typeface="Calibri"/>
              </a:rPr>
              <a:t>3. Layer 1 — Suspicious-Behavior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19293840"/>
            <a:ext cx="2258568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[ Headline finding in plain English. ]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Continuous suspicion score at p90 cutoff: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•  Flags 10% of tokens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•  Catches 100% of validated fraud (6/6)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Discrete 3-vote consensus (legacy approach):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•  Flags 2.3% of tokens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   •  Catches 17% of validated fraud (1/6)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[ Figure placeholder below: PCA anomaly map + baseline lift chart. 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963120" y="18013680"/>
            <a:ext cx="23500080" cy="118872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37440" y="18196560"/>
            <a:ext cx="22951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A51C30"/>
                </a:solidFill>
                <a:latin typeface="Calibri"/>
              </a:rPr>
              <a:t>4. Layer 2 — Fraud Calibration &amp; Explainability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20320" y="19293840"/>
            <a:ext cx="22585680" cy="685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SHAP feature-importance on Isolation Forest identifies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early_velocity_ratio (first-24h volume/total) as the #1 driver of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suspicion — validating the 'Do Not Rug on Me' (Mazorra et al.)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temporal hypothesis.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Calibration separates catastrophic non-fraud (SLP / 3Crv / MIM,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P(fraud) &lt; 0.15) from rug-like tokens (WFT / PLASMA / GREED,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P(fraud) &gt; 0.6). LOO accuracy modest at n=14 — we report this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honestly and note what additional labels would buy.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[ Figure placeholder below: SHAP global importance + calibration report.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24871680"/>
            <a:ext cx="1106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26563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99999"/>
                </a:solidFill>
                <a:latin typeface="Calibri"/>
              </a:rPr>
              <a:t>[ Insert figure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2903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Fig 3a. PCA anomaly map (consensus votes)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93040" y="24871680"/>
            <a:ext cx="1106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93040" y="26563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99999"/>
                </a:solidFill>
                <a:latin typeface="Calibri"/>
              </a:rPr>
              <a:t>[ Insert figure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0" y="2903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Fig 3b. Fraud-recall lift over baselines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420320" y="24871680"/>
            <a:ext cx="1106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420320" y="26563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99999"/>
                </a:solidFill>
                <a:latin typeface="Calibri"/>
              </a:rPr>
              <a:t>[ Insert figure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420320" y="2903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Fig 4a. SHAP global importance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941760" y="24871680"/>
            <a:ext cx="1106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41760" y="26563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99999"/>
                </a:solidFill>
                <a:latin typeface="Calibri"/>
              </a:rPr>
              <a:t>[ Insert figure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941760" y="2903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Fig 4b. LOO calibration on validated subset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0" y="12710160"/>
            <a:ext cx="6858000" cy="4114800"/>
          </a:xfrm>
          <a:prstGeom prst="roundRect">
            <a:avLst>
              <a:gd name="adj" fmla="val 8000"/>
            </a:avLst>
          </a:prstGeom>
          <a:solidFill>
            <a:srgbClr val="FFF5B8"/>
          </a:solidFill>
          <a:ln w="12700">
            <a:solidFill>
              <a:srgbClr val="E0C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330880" y="12847320"/>
            <a:ext cx="6492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A51C30"/>
                </a:solidFill>
                <a:latin typeface="Calibri"/>
              </a:rPr>
              <a:t>Key design decision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80" y="13624560"/>
            <a:ext cx="6492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Move from discrete consensus voting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to a continuous rank-averaged score.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Rationale: the old yes/no voting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dropped validated fraud tokens that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any single detector happened to miss.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" y="30449520"/>
            <a:ext cx="47548800" cy="347472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0" y="30632400"/>
            <a:ext cx="46817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A51C30"/>
                </a:solidFill>
                <a:latin typeface="Calibri"/>
              </a:rPr>
              <a:t>5. Summary &amp;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31729680"/>
            <a:ext cx="466344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[ One-sentence plain-English headline, large, bold. Replace this. ]</a:t>
            </a:r>
          </a:p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 •  A continuous suspicion score materially outperforms the legacy consensus-vote threshold for fraud recall.</a:t>
            </a:r>
          </a:p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 •  The Layer-2 calibrator reliably identifies what is NOT fraud (large legitimate events); separating fraud</a:t>
            </a:r>
          </a:p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     from hacks/bugs within the high-suspicion region requires evidence beyond on-chain volume features.</a:t>
            </a:r>
          </a:p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 •  Limitations: validation set n=14; token-symbol collisions handled via lowercase dedup; 37% of tokens</a:t>
            </a:r>
          </a:p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     have imputed 24-hour features. All limitations disclosed in the accompanying report.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34152840"/>
            <a:ext cx="3108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A51C30"/>
                </a:solidFill>
                <a:latin typeface="Calibri"/>
              </a:rPr>
              <a:t>References &amp; Acknowledgments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34792920"/>
            <a:ext cx="310896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1. Mazorra, B. et al. Do Not Rug on Me: Zero-Dimensional Scam Detection. arXiv:2201.07220, 2022.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2. Liu, F. T., Ting, K. M., &amp; Zhou, Z.-H. Isolation Forest. ICDM 2008.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3. Ester, M. et al. A Density-Based Algorithm for Discovering Clusters. KDD 1996.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4. Lundberg, S. M. &amp; Lee, S.-I. A Unified Approach to Interpreting Model Predictions. NeurIPS 2017.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Data: Dune Analytics (dex.trades, Ethereum, 365-day window). Code: [ github link 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552640" y="34152840"/>
            <a:ext cx="5303520" cy="822960"/>
          </a:xfrm>
          <a:prstGeom prst="rect">
            <a:avLst/>
          </a:prstGeom>
          <a:solidFill>
            <a:srgbClr val="A51C3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552640" y="34290000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552640" y="34975800"/>
            <a:ext cx="530352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689800" y="35067240"/>
            <a:ext cx="502920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name ]</a:t>
            </a:r>
          </a:p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email ]</a:t>
            </a:r>
          </a:p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website 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856160" y="34152840"/>
            <a:ext cx="5303520" cy="822960"/>
          </a:xfrm>
          <a:prstGeom prst="rect">
            <a:avLst/>
          </a:prstGeom>
          <a:solidFill>
            <a:srgbClr val="A51C3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856160" y="34290000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MORE INFO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856160" y="34975800"/>
            <a:ext cx="530352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93320" y="35067240"/>
            <a:ext cx="502920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github / paper link ]</a:t>
            </a:r>
          </a:p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QR code placeholder 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159680" y="34152840"/>
            <a:ext cx="5303520" cy="822960"/>
          </a:xfrm>
          <a:prstGeom prst="rect">
            <a:avLst/>
          </a:prstGeom>
          <a:solidFill>
            <a:srgbClr val="A51C3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159680" y="34290000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159680" y="34975800"/>
            <a:ext cx="530352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296840" y="35067240"/>
            <a:ext cx="502920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advisor ]</a:t>
            </a:r>
          </a:p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[ team / partners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