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460D8-C424-3B4B-8919-5E57E2DED5E6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080FD-D343-5845-A105-0637227FE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9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Unsupervised Fraud Detection Validation</a:t>
            </a:r>
            <a:endParaRPr lang="en-US" dirty="0"/>
          </a:p>
          <a:p>
            <a:r>
              <a:rPr lang="en-US" dirty="0"/>
              <a:t>Updated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AC297r</a:t>
            </a:r>
          </a:p>
          <a:p>
            <a:r>
              <a:t>Gillian Schriever | Jiahui (Cecilia) Cai | Zhilin Chen | Jinghan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Isolate fraudulent behavior natively without labeled training data.</a:t>
            </a:r>
          </a:p>
          <a:p>
            <a:r>
              <a:t>Evaluated 4,334 mid-cap ERC-20 tokens via Dune Analytics.</a:t>
            </a:r>
          </a:p>
          <a:p>
            <a:r>
              <a:t>Deployed 3 Independent Unsupervised Models:</a:t>
            </a:r>
          </a:p>
          <a:p>
            <a:pPr lvl="1"/>
            <a:r>
              <a:t>1. Isolation Forest (Detects sparse outliers)</a:t>
            </a:r>
          </a:p>
          <a:p>
            <a:pPr lvl="1"/>
            <a:r>
              <a:t>2. DBSCAN (Detects density anomalies)</a:t>
            </a:r>
          </a:p>
          <a:p>
            <a:pPr lvl="1"/>
            <a:r>
              <a:t>3. PCA + Mahalanobis Distance (Detects multi-dimensional extremes)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Consensus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eliminate false positives, we established a strict voting threshold.</a:t>
            </a:r>
          </a:p>
          <a:p>
            <a:r>
              <a:t>Tokens flagged by at least 2 models: 147</a:t>
            </a:r>
          </a:p>
          <a:p>
            <a:r>
              <a:t>Tokens flagged by ALL 3 models (High Confidence): 46</a:t>
            </a:r>
          </a:p>
          <a:p>
            <a:r>
              <a:t>The Top 46 tokens represent the most mathematically extreme ~1% of the entire Ethereum mid-cap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High-Level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dirty="0"/>
              <a:t>Total Anomaly Detection Efficacy: 100% </a:t>
            </a:r>
            <a:r>
              <a:rPr lang="en-US" dirty="0"/>
              <a:t>(</a:t>
            </a:r>
            <a:r>
              <a:rPr dirty="0"/>
              <a:t>46/46 Tokens)</a:t>
            </a:r>
          </a:p>
          <a:p>
            <a:pPr lvl="1"/>
            <a:r>
              <a:rPr dirty="0"/>
              <a:t>The Unsupervised Pipeline (Consensus voting via Isolation Forest, DBSCAN, PCA) successfully isolated catastrophic market events.</a:t>
            </a:r>
          </a:p>
          <a:p>
            <a:pPr lvl="1"/>
            <a:r>
              <a:rPr dirty="0"/>
              <a:t>Model categorized anomalies</a:t>
            </a:r>
            <a:r>
              <a:rPr lang="en-US" dirty="0"/>
              <a:t> (not just scams)</a:t>
            </a:r>
            <a:r>
              <a:rPr dirty="0"/>
              <a:t> into </a:t>
            </a:r>
            <a:r>
              <a:rPr lang="en-US" dirty="0"/>
              <a:t>three </a:t>
            </a:r>
            <a:r>
              <a:rPr dirty="0"/>
              <a:t>completely distinct failure modes:</a:t>
            </a:r>
          </a:p>
          <a:p>
            <a:pPr lvl="2"/>
            <a:r>
              <a:rPr dirty="0"/>
              <a:t>1. Technical Exploits (Smart contract hacks, liquidations)</a:t>
            </a:r>
          </a:p>
          <a:p>
            <a:pPr lvl="2"/>
            <a:r>
              <a:rPr dirty="0"/>
              <a:t>2. Malicious Fraud (Rug pulls, honeypots, Ponzi schemes)</a:t>
            </a:r>
          </a:p>
          <a:p>
            <a:pPr lvl="2"/>
            <a:r>
              <a:rPr dirty="0"/>
              <a:t>3. Institutional Market Shocks (Stablecoin wrapping/unwrapping)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Validation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Fraud Taxonomy from comprehensive 46-token evaluation:</a:t>
            </a:r>
          </a:p>
          <a:p>
            <a:pPr lvl="1"/>
            <a:r>
              <a:rPr dirty="0"/>
              <a:t>Malicious Impersonators &amp; Phishing:</a:t>
            </a:r>
          </a:p>
          <a:p>
            <a:pPr lvl="2"/>
            <a:r>
              <a:rPr dirty="0"/>
              <a:t>APEX &amp; PLASMA (Fake wallet drainers), CZI / CULTB / KFC! (Brand Spoofing)</a:t>
            </a:r>
          </a:p>
          <a:p>
            <a:pPr lvl="1"/>
            <a:r>
              <a:rPr dirty="0"/>
              <a:t>Low-Cap Exit Scams &amp; Honeypots:</a:t>
            </a:r>
          </a:p>
          <a:p>
            <a:pPr lvl="2"/>
            <a:r>
              <a:rPr dirty="0"/>
              <a:t>GREED, WODIU, MAGGOT, ZIPT, DEON (Anonymous abandonment)</a:t>
            </a:r>
          </a:p>
          <a:p>
            <a:pPr lvl="1"/>
            <a:r>
              <a:rPr dirty="0"/>
              <a:t>Complex &amp; Unique Cascades:</a:t>
            </a:r>
          </a:p>
          <a:p>
            <a:pPr lvl="2"/>
            <a:r>
              <a:rPr dirty="0"/>
              <a:t>TETH (Decimal precision liquidations), VAL (Insider 'Soft Rug'), YANG (Defrost Finance Heist)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Scaling via Consensus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dirty="0"/>
              <a:t>Key Insight: The severity of the market event scales with the number of models flagging it.</a:t>
            </a:r>
          </a:p>
          <a:p>
            <a:pPr lvl="1"/>
            <a:r>
              <a:rPr dirty="0"/>
              <a:t>3-Vote Consensus (Isolation Forest + DBSCAN + PCA):</a:t>
            </a:r>
          </a:p>
          <a:p>
            <a:pPr lvl="2"/>
            <a:r>
              <a:rPr dirty="0"/>
              <a:t>Catastrophic systemic failures and massive protocol hacks (e.g., $600M Ronin Hack, 50% CORE liquidations).</a:t>
            </a:r>
          </a:p>
          <a:p>
            <a:pPr lvl="2"/>
            <a:r>
              <a:rPr dirty="0"/>
              <a:t>Institutional volume shocks (Stablecoin mint/burn cascades).</a:t>
            </a:r>
          </a:p>
          <a:p>
            <a:pPr lvl="1"/>
            <a:r>
              <a:rPr dirty="0"/>
              <a:t>1-Vote Anomalies (Single Model Flag):</a:t>
            </a:r>
          </a:p>
          <a:p>
            <a:pPr lvl="2"/>
            <a:r>
              <a:rPr dirty="0"/>
              <a:t>Basic, low-liquidity meme coin rug pulls (e.g., RATO, $ANIBTC).</a:t>
            </a:r>
          </a:p>
          <a:p>
            <a:pPr lvl="2"/>
            <a:r>
              <a:rPr dirty="0"/>
              <a:t>Name collisions targeting slang and hype keywords (e.g., FOMO, MIS).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394</Words>
  <Application>Microsoft Macintosh PowerPoint</Application>
  <PresentationFormat>On-screen Show (4:3)</PresentationFormat>
  <Paragraphs>39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Unsupervised Fraud Detection Validation Updated Results</vt:lpstr>
      <vt:lpstr>Evaluation Methodology</vt:lpstr>
      <vt:lpstr>The Consensus Approach</vt:lpstr>
      <vt:lpstr>High-Level Validation Results</vt:lpstr>
      <vt:lpstr>Detailed Validation Taxonomy</vt:lpstr>
      <vt:lpstr>Severity Scaling via Consensus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Gillian Schriever</cp:lastModifiedBy>
  <cp:revision>4</cp:revision>
  <dcterms:created xsi:type="dcterms:W3CDTF">2013-01-27T09:14:16Z</dcterms:created>
  <dcterms:modified xsi:type="dcterms:W3CDTF">2026-04-17T15:31:21Z</dcterms:modified>
  <cp:category/>
</cp:coreProperties>
</file>