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6" r:id="rId3"/>
    <p:sldId id="257" r:id="rId4"/>
    <p:sldId id="258" r:id="rId5"/>
    <p:sldId id="259" r:id="rId6"/>
    <p:sldId id="261" r:id="rId7"/>
    <p:sldId id="263" r:id="rId8"/>
    <p:sldId id="260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10D788-FB9F-3A44-AF00-3F5331AB6BC5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D4348-B719-4043-968E-9B5F49EF3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1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D4348-B719-4043-968E-9B5F49EF30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34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Instead of blindly trusting unverified 'Market Caps' which are easily manipulated by scammers minting trillions of illiquid tokens, we use activity-based filtering.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D4348-B719-4043-968E-9B5F49EF30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08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D4348-B719-4043-968E-9B5F49EF30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bc.com/news/business-59129466" TargetMode="External"/><Relationship Id="rId3" Type="http://schemas.openxmlformats.org/officeDocument/2006/relationships/hyperlink" Target="https://cointelegraph.com/news/defi-protocol-compounder-finance-drained-of-10-8m-in-exit-scam" TargetMode="External"/><Relationship Id="rId7" Type="http://schemas.openxmlformats.org/officeDocument/2006/relationships/hyperlink" Target="https://www.koinly.io/blog/crypto-rug-pulls/" TargetMode="External"/><Relationship Id="rId2" Type="http://schemas.openxmlformats.org/officeDocument/2006/relationships/hyperlink" Target="https://blockworks.co/news/anubisdao-60m-rug-pul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intelegraph.com/news/fintoch-crypto-project-allegedly-scams-users-for-31-6m" TargetMode="External"/><Relationship Id="rId5" Type="http://schemas.openxmlformats.org/officeDocument/2006/relationships/hyperlink" Target="https://www.justice.gov/usao-edny/pr/creator-mutant-ape-planet-nfts-charged-fraud" TargetMode="External"/><Relationship Id="rId4" Type="http://schemas.openxmlformats.org/officeDocument/2006/relationships/hyperlink" Target="https://www.tubefilter.com/2021/07/02/save-the-kids-crypto-scam-faze-clan/" TargetMode="External"/><Relationship Id="rId9" Type="http://schemas.openxmlformats.org/officeDocument/2006/relationships/hyperlink" Target="https://www.cnbc.com/2022/05/17/safemoon-crypto-project-faces-fraud-allegations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CF04-CA05-5330-BBEE-E2EAAC603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Detecting Pump-and-Dump</a:t>
            </a:r>
            <a:br>
              <a:rPr lang="en-US" b="1" dirty="0"/>
            </a:br>
            <a:r>
              <a:rPr lang="en-US" b="1" dirty="0"/>
              <a:t>in Small-Cap Ethereum Tokens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768BE-2BAB-E59D-4CFD-BF9D77CD1C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AC297r</a:t>
            </a:r>
          </a:p>
          <a:p>
            <a:r>
              <a:rPr lang="en-US" dirty="0">
                <a:solidFill>
                  <a:schemeClr val="tx1"/>
                </a:solidFill>
              </a:rPr>
              <a:t>Gillian Schriever  ·  Jiahui (Cecilia) Cai  ·  Zhilin Chen  ·  Jinghan Huang</a:t>
            </a:r>
          </a:p>
          <a:p>
            <a:r>
              <a:rPr lang="en-US" dirty="0">
                <a:solidFill>
                  <a:schemeClr val="tx1"/>
                </a:solidFill>
              </a:rPr>
              <a:t>April 2 Update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2B12F-7608-80CC-3FBB-4F2BECF33353}"/>
              </a:ext>
            </a:extLst>
          </p:cNvPr>
          <p:cNvSpPr txBox="1"/>
          <p:nvPr/>
        </p:nvSpPr>
        <p:spPr>
          <a:xfrm>
            <a:off x="2286000" y="32443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925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Class Imbalance: </a:t>
            </a:r>
            <a:r>
              <a:rPr lang="en-US" dirty="0"/>
              <a:t>most tokens are not fraudulent</a:t>
            </a:r>
            <a:endParaRPr dirty="0"/>
          </a:p>
          <a:p>
            <a:r>
              <a:rPr b="1" dirty="0"/>
              <a:t>Labeling Bottleneck</a:t>
            </a:r>
            <a:r>
              <a:rPr dirty="0"/>
              <a:t>: </a:t>
            </a:r>
            <a:r>
              <a:rPr lang="en-US" dirty="0"/>
              <a:t>accurately labeling all tokens as fraudulent or not is impractical</a:t>
            </a:r>
            <a:endParaRPr dirty="0"/>
          </a:p>
          <a:p>
            <a:r>
              <a:rPr b="1" dirty="0"/>
              <a:t>Lack of Ground Truth</a:t>
            </a:r>
            <a:r>
              <a:rPr dirty="0"/>
              <a:t>: </a:t>
            </a:r>
            <a:r>
              <a:rPr lang="en-US" dirty="0"/>
              <a:t>lack of certainty in labeled data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Mid-Cap Token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Selection Criteria </a:t>
            </a:r>
            <a:r>
              <a:rPr lang="en-US" dirty="0"/>
              <a:t>for 5,000 Ethereum Tokens:</a:t>
            </a:r>
          </a:p>
          <a:p>
            <a:pPr lvl="1"/>
            <a:r>
              <a:rPr lang="en-US" dirty="0"/>
              <a:t>1: Top 5,000 tokens by Decentralized Exchange (DEX) trading volume on Uniswap over the last year</a:t>
            </a:r>
          </a:p>
          <a:p>
            <a:pPr lvl="1"/>
            <a:r>
              <a:rPr lang="en-US" dirty="0"/>
              <a:t>2: Must have a minimum number of unique swaps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Ground Truth Fraud </a:t>
            </a:r>
            <a:r>
              <a:rPr lang="en-US" dirty="0"/>
              <a:t>Examples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5660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 err="1"/>
              <a:t>AnubisDAO</a:t>
            </a:r>
            <a:r>
              <a:rPr lang="en-US" sz="1400" dirty="0"/>
              <a:t> ($ANKH) — October 29, 2021 — </a:t>
            </a:r>
            <a:r>
              <a:rPr lang="en-US" sz="1400" dirty="0">
                <a:hlinkClick r:id="rId2"/>
              </a:rPr>
              <a:t>https://blockworks.co/news/anubisdao-60m-rug-pull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Compounder Finance ($CP3R) — December 1, 2020 — </a:t>
            </a:r>
            <a:r>
              <a:rPr lang="en-US" sz="1400" dirty="0">
                <a:hlinkClick r:id="rId3"/>
              </a:rPr>
              <a:t>https://cointelegraph.com/news/defi-protocol-compounder-finance-drained-of-10-8m-in-exit-scam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Save The Kids ($KIDS) — June 5, 2021 — </a:t>
            </a:r>
            <a:r>
              <a:rPr lang="en-US" sz="1400" dirty="0">
                <a:hlinkClick r:id="rId4"/>
              </a:rPr>
              <a:t>https://www.tubefilter.com/2021/07/02/save-the-kids-crypto-scam-faze-clan/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Mutant Ape Planet ($MAP) — January 2022 (arrest January 2023) — </a:t>
            </a:r>
            <a:r>
              <a:rPr lang="en-US" sz="1400" dirty="0">
                <a:hlinkClick r:id="rId5"/>
              </a:rPr>
              <a:t>https://www.justice.gov/usao-edny/pr/creator-mutant-ape-planet-nfts-charged-fraud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Fintoch</a:t>
            </a:r>
            <a:r>
              <a:rPr lang="en-US" sz="1400" dirty="0"/>
              <a:t> ($FTC) — May 22–24, 2023 — </a:t>
            </a:r>
            <a:r>
              <a:rPr lang="en-US" sz="1400" dirty="0">
                <a:hlinkClick r:id="rId6"/>
              </a:rPr>
              <a:t>https://cointelegraph.com/news/fintoch-crypto-project-allegedly-scams-users-for-31-6m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Bored Bunny — Early 2022 — </a:t>
            </a:r>
            <a:r>
              <a:rPr lang="en-US" sz="1400" dirty="0">
                <a:hlinkClick r:id="rId7"/>
              </a:rPr>
              <a:t>https://www.koinly.io/blog/crypto-rug-pulls/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Squid Game ($SQUID) — November 1, 2021 — </a:t>
            </a:r>
            <a:r>
              <a:rPr lang="en-US" sz="1400" dirty="0">
                <a:hlinkClick r:id="rId8"/>
              </a:rPr>
              <a:t>https://www.bbc.com/news/business-59129466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SaveTheKids</a:t>
            </a:r>
            <a:r>
              <a:rPr lang="en-US" sz="1400" dirty="0"/>
              <a:t> ($KIDS) — June 5, 2021 — </a:t>
            </a:r>
            <a:r>
              <a:rPr lang="en-US" sz="1400" dirty="0">
                <a:hlinkClick r:id="rId4"/>
              </a:rPr>
              <a:t>https://www.tubefilter.com/2021/07/02/save-the-kids-crypto-scam-faze-clan/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SafeMoon</a:t>
            </a:r>
            <a:r>
              <a:rPr lang="en-US" sz="1400" dirty="0"/>
              <a:t> ($SFM) — April 20, 2021 — </a:t>
            </a:r>
            <a:r>
              <a:rPr lang="en-US" sz="1400" dirty="0">
                <a:hlinkClick r:id="rId9"/>
              </a:rPr>
              <a:t>https://www.cnbc.com/2022/05/17/safemoon-crypto-project-faces-fraud-allegations.html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AnubisDAO</a:t>
            </a:r>
            <a:r>
              <a:rPr lang="en-US" sz="1400" dirty="0"/>
              <a:t> ($ANKH) — October 29, 2021 — </a:t>
            </a:r>
            <a:r>
              <a:rPr lang="en-US" sz="1400" dirty="0">
                <a:hlinkClick r:id="rId2"/>
              </a:rPr>
              <a:t>https://blockworks.co/news/anubisdao-60m-rug-pull</a:t>
            </a:r>
            <a:endParaRPr lang="en-US" sz="14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&amp; Volume Feature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Design Choice: </a:t>
            </a:r>
            <a:r>
              <a:rPr lang="en-US" dirty="0"/>
              <a:t>static</a:t>
            </a:r>
            <a:r>
              <a:rPr dirty="0"/>
              <a:t> Features for Unsupervised Learning</a:t>
            </a:r>
          </a:p>
          <a:p>
            <a:pPr lvl="1"/>
            <a:r>
              <a:rPr dirty="0"/>
              <a:t>Standard clustering algorithms (Isolation Forest, DBSCAN) require fixed-length vectors (1 row per token).</a:t>
            </a:r>
          </a:p>
          <a:p>
            <a:pPr lvl="1"/>
            <a:r>
              <a:rPr dirty="0"/>
              <a:t>Example Static Features:</a:t>
            </a:r>
          </a:p>
          <a:p>
            <a:pPr lvl="2"/>
            <a:r>
              <a:rPr dirty="0" err="1"/>
              <a:t>volume_spike_ratio</a:t>
            </a:r>
            <a:r>
              <a:rPr dirty="0"/>
              <a:t>: Max single-day volume / average daily volume.</a:t>
            </a:r>
          </a:p>
          <a:p>
            <a:pPr lvl="2"/>
            <a:r>
              <a:rPr dirty="0" err="1"/>
              <a:t>total_days_traded</a:t>
            </a:r>
            <a:r>
              <a:rPr dirty="0"/>
              <a:t>: Aggregated count to identify suspicious bursts.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Upgrading Dune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The Plus tier removes restrictive API/CSV export ceilings, making it possible to actually extract our feature matrices for modeling.</a:t>
            </a:r>
          </a:p>
          <a:p>
            <a:r>
              <a:rPr lang="en-US" dirty="0"/>
              <a:t>Plus tier is 349$/month</a:t>
            </a:r>
          </a:p>
          <a:p>
            <a:r>
              <a:rPr lang="en-US" dirty="0"/>
              <a:t>Can we get our team added to your partner’s workspace if they are on a </a:t>
            </a:r>
            <a:r>
              <a:rPr lang="en-US" b="1" dirty="0"/>
              <a:t>Plus</a:t>
            </a:r>
            <a:r>
              <a:rPr lang="en-US" dirty="0"/>
              <a:t> tier?</a:t>
            </a:r>
          </a:p>
          <a:p>
            <a:pPr lvl="1"/>
            <a:r>
              <a:rPr lang="en-US" dirty="0"/>
              <a:t>We can run testing/checking of queries on our own accounts to limit credit use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5B0A-8435-8767-6AB6-B44FF34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1391"/>
            <a:ext cx="8229600" cy="1143000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76102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Extraction (Dune 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Querying </a:t>
            </a:r>
            <a:r>
              <a:rPr dirty="0" err="1"/>
              <a:t>dex.trades</a:t>
            </a:r>
            <a:r>
              <a:rPr dirty="0"/>
              <a:t> for Price/Volume Dynamics:</a:t>
            </a:r>
          </a:p>
          <a:p>
            <a:pPr lvl="1"/>
            <a:r>
              <a:rPr dirty="0"/>
              <a:t>Using the Trino (</a:t>
            </a:r>
            <a:r>
              <a:rPr dirty="0" err="1"/>
              <a:t>DuneSQL</a:t>
            </a:r>
            <a:r>
              <a:rPr dirty="0"/>
              <a:t>) engine to pull swap volumes and approximate prices across decentralized exchanges.</a:t>
            </a:r>
          </a:p>
          <a:p>
            <a:pPr lvl="1"/>
            <a:r>
              <a:rPr dirty="0"/>
              <a:t>The query aggregates by </a:t>
            </a:r>
            <a:r>
              <a:rPr dirty="0" err="1"/>
              <a:t>token_a_address</a:t>
            </a:r>
            <a:r>
              <a:rPr dirty="0"/>
              <a:t> and day, computing SUM(</a:t>
            </a:r>
            <a:r>
              <a:rPr dirty="0" err="1"/>
              <a:t>amount_usd</a:t>
            </a:r>
            <a:r>
              <a:rPr dirty="0"/>
              <a:t>).</a:t>
            </a:r>
          </a:p>
          <a:p>
            <a:pPr lvl="1"/>
            <a:r>
              <a:rPr dirty="0"/>
              <a:t>Then, a parent CTE calculates the MAX() and AVG() to derive our static </a:t>
            </a:r>
            <a:r>
              <a:rPr dirty="0" err="1"/>
              <a:t>volume_spike_ratio</a:t>
            </a:r>
            <a:r>
              <a:rPr dirty="0"/>
              <a:t> and maximum dominance.</a:t>
            </a:r>
          </a:p>
          <a:p>
            <a:pPr lvl="1"/>
            <a:r>
              <a:rPr dirty="0"/>
              <a:t>See `</a:t>
            </a:r>
            <a:r>
              <a:rPr dirty="0" err="1"/>
              <a:t>price_volume_features.sql</a:t>
            </a:r>
            <a:r>
              <a:rPr dirty="0"/>
              <a:t>` in our repository for the full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13696-C71F-F3D8-8286-477E617F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6C77-7149-6E52-9D6A-6F50A1BC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 Truth Fraud Baselines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EAF16-E2BB-794D-4E3B-0883BAD84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dirty="0"/>
              <a:t>We will use these known rug-pulls to validate our unsupervised clusters:</a:t>
            </a:r>
          </a:p>
          <a:p>
            <a:r>
              <a:rPr lang="en-US" b="1" dirty="0" err="1"/>
              <a:t>AnubisDAO</a:t>
            </a:r>
            <a:r>
              <a:rPr lang="en-US" b="1" dirty="0"/>
              <a:t> ($ANKH)</a:t>
            </a:r>
          </a:p>
          <a:p>
            <a:r>
              <a:rPr lang="en-US" b="1" dirty="0"/>
              <a:t>Behavior:</a:t>
            </a:r>
            <a:r>
              <a:rPr lang="en-US" dirty="0"/>
              <a:t> Massive Sudden Liquidity Drain (Rug Pull)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October 29, 2021 (~20 hours post-launch)</a:t>
            </a:r>
            <a:br>
              <a:rPr lang="en-US" dirty="0"/>
            </a:br>
            <a:r>
              <a:rPr lang="en-US" b="1" dirty="0"/>
              <a:t>Impact:</a:t>
            </a:r>
            <a:r>
              <a:rPr lang="en-US" dirty="0"/>
              <a:t> ~$60M stolen by developers</a:t>
            </a:r>
            <a:br>
              <a:rPr lang="en-US" dirty="0"/>
            </a:br>
            <a:r>
              <a:rPr lang="en-US" b="1" dirty="0"/>
              <a:t>Sources: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blockworks.co</a:t>
            </a:r>
            <a:r>
              <a:rPr lang="en-US" dirty="0"/>
              <a:t>/news/anubisdao-60m-rug-pull </a:t>
            </a:r>
          </a:p>
          <a:p>
            <a:r>
              <a:rPr lang="en-US" dirty="0"/>
              <a:t>https://</a:t>
            </a:r>
            <a:r>
              <a:rPr lang="en-US" dirty="0" err="1"/>
              <a:t>forklog.com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/defi-project-anubisdao-loses-60-million-in-alleged-rug-pull/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Compounder Finance ($CP3R)</a:t>
            </a:r>
          </a:p>
          <a:p>
            <a:r>
              <a:rPr lang="en-US" b="1" dirty="0"/>
              <a:t>Behavior:</a:t>
            </a:r>
            <a:r>
              <a:rPr lang="en-US" dirty="0"/>
              <a:t> Smart Contract Exploit / Backdoor Rug Pull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December 1, 2020</a:t>
            </a:r>
            <a:br>
              <a:rPr lang="en-US" dirty="0"/>
            </a:br>
            <a:r>
              <a:rPr lang="en-US" b="1" dirty="0"/>
              <a:t>Impact:</a:t>
            </a:r>
            <a:r>
              <a:rPr lang="en-US" dirty="0"/>
              <a:t> ~$10.8M drained from investor staking pools</a:t>
            </a:r>
            <a:br>
              <a:rPr lang="en-US" dirty="0"/>
            </a:br>
            <a:r>
              <a:rPr lang="en-US" b="1" dirty="0"/>
              <a:t>Sources: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cointelegraph.com</a:t>
            </a:r>
            <a:r>
              <a:rPr lang="en-US" dirty="0"/>
              <a:t>/news/defi-protocol-compounder-finance-drained-of-10-8m-in-exit-scam </a:t>
            </a:r>
          </a:p>
          <a:p>
            <a:r>
              <a:rPr lang="en-US" dirty="0"/>
              <a:t>https://</a:t>
            </a:r>
            <a:r>
              <a:rPr lang="en-US" dirty="0" err="1"/>
              <a:t>halborn.com</a:t>
            </a:r>
            <a:r>
              <a:rPr lang="en-US" dirty="0"/>
              <a:t>/blog/post/explained-the-compounder-finance-hack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Save The Kids ($KIDS)</a:t>
            </a:r>
          </a:p>
          <a:p>
            <a:r>
              <a:rPr lang="en-US" b="1" dirty="0"/>
              <a:t>Behavior:</a:t>
            </a:r>
            <a:r>
              <a:rPr lang="en-US" dirty="0"/>
              <a:t> Influencer Pump and Dump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June 5, 2021</a:t>
            </a:r>
            <a:br>
              <a:rPr lang="en-US" dirty="0"/>
            </a:br>
            <a:r>
              <a:rPr lang="en-US" b="1" dirty="0"/>
              <a:t>Impact:</a:t>
            </a:r>
            <a:r>
              <a:rPr lang="en-US" dirty="0"/>
              <a:t> Token collapsed after insider dumping</a:t>
            </a:r>
            <a:br>
              <a:rPr lang="en-US" dirty="0"/>
            </a:br>
            <a:r>
              <a:rPr lang="en-US" b="1" dirty="0"/>
              <a:t>Sources: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www.tubefilter.com</a:t>
            </a:r>
            <a:r>
              <a:rPr lang="en-US" dirty="0"/>
              <a:t>/2021/07/02/save-the-kids-crypto-scam-faze-clan/ </a:t>
            </a:r>
          </a:p>
          <a:p>
            <a:r>
              <a:rPr lang="en-US" dirty="0"/>
              <a:t>https://</a:t>
            </a:r>
            <a:r>
              <a:rPr lang="en-US" dirty="0" err="1"/>
              <a:t>academy.binance.com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/articles/what-is-a-pump-and-dump-scheme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Mutant Ape Planet ($MAP)</a:t>
            </a:r>
          </a:p>
          <a:p>
            <a:r>
              <a:rPr lang="en-US" b="1" dirty="0"/>
              <a:t>Behavior:</a:t>
            </a:r>
            <a:r>
              <a:rPr lang="en-US" dirty="0"/>
              <a:t> Slow Bleed / Abandonment Rug Pull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Launched Jan 2022; creator arrested Jan 2023</a:t>
            </a:r>
            <a:br>
              <a:rPr lang="en-US" dirty="0"/>
            </a:br>
            <a:r>
              <a:rPr lang="en-US" b="1" dirty="0"/>
              <a:t>Impact:</a:t>
            </a:r>
            <a:r>
              <a:rPr lang="en-US" dirty="0"/>
              <a:t> ~$2.9M scammed from investors</a:t>
            </a:r>
            <a:br>
              <a:rPr lang="en-US" dirty="0"/>
            </a:br>
            <a:r>
              <a:rPr lang="en-US" b="1" dirty="0"/>
              <a:t>Sources: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www.justice.gov</a:t>
            </a:r>
            <a:r>
              <a:rPr lang="en-US" dirty="0"/>
              <a:t>/</a:t>
            </a:r>
            <a:r>
              <a:rPr lang="en-US" dirty="0" err="1"/>
              <a:t>usao-edny</a:t>
            </a:r>
            <a:r>
              <a:rPr lang="en-US" dirty="0"/>
              <a:t>/pr/creator-mutant-ape-planet-</a:t>
            </a:r>
            <a:r>
              <a:rPr lang="en-US" dirty="0" err="1"/>
              <a:t>nfts</a:t>
            </a:r>
            <a:r>
              <a:rPr lang="en-US" dirty="0"/>
              <a:t>-charged-fraud </a:t>
            </a:r>
          </a:p>
          <a:p>
            <a:r>
              <a:rPr lang="en-US" dirty="0"/>
              <a:t>https://</a:t>
            </a:r>
            <a:r>
              <a:rPr lang="en-US" dirty="0" err="1"/>
              <a:t>www.pcgamer.com</a:t>
            </a:r>
            <a:r>
              <a:rPr lang="en-US" dirty="0"/>
              <a:t>/</a:t>
            </a:r>
            <a:r>
              <a:rPr lang="en-US" dirty="0" err="1"/>
              <a:t>nft</a:t>
            </a:r>
            <a:r>
              <a:rPr lang="en-US" dirty="0"/>
              <a:t>-scammer-arrested-for-mutant-ape-planet-rug-pull/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 err="1"/>
              <a:t>Fintoch</a:t>
            </a:r>
            <a:r>
              <a:rPr lang="en-US" b="1" dirty="0"/>
              <a:t> ($FTC)</a:t>
            </a:r>
          </a:p>
          <a:p>
            <a:r>
              <a:rPr lang="en-US" b="1" dirty="0"/>
              <a:t>Behavior:</a:t>
            </a:r>
            <a:r>
              <a:rPr lang="en-US" dirty="0"/>
              <a:t> Exit Scam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May 22–24, 2023</a:t>
            </a:r>
            <a:br>
              <a:rPr lang="en-US" dirty="0"/>
            </a:br>
            <a:r>
              <a:rPr lang="en-US" b="1" dirty="0"/>
              <a:t>Impact:</a:t>
            </a:r>
            <a:r>
              <a:rPr lang="en-US" dirty="0"/>
              <a:t> ~$31.6M stolen after withdrawal freeze</a:t>
            </a:r>
            <a:br>
              <a:rPr lang="en-US" dirty="0"/>
            </a:br>
            <a:r>
              <a:rPr lang="en-US" b="1" dirty="0"/>
              <a:t>Sources: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cointelegraph.com</a:t>
            </a:r>
            <a:r>
              <a:rPr lang="en-US" dirty="0"/>
              <a:t>/news/fintoch-crypto-project-allegedly-scams-users-for-31-6m </a:t>
            </a:r>
          </a:p>
          <a:p>
            <a:r>
              <a:rPr lang="en-US" dirty="0"/>
              <a:t>https://</a:t>
            </a:r>
            <a:r>
              <a:rPr lang="en-US" dirty="0" err="1"/>
              <a:t>hacken.io</a:t>
            </a:r>
            <a:r>
              <a:rPr lang="en-US" dirty="0"/>
              <a:t>/discover/</a:t>
            </a:r>
            <a:r>
              <a:rPr lang="en-US" dirty="0" err="1"/>
              <a:t>fintoch</a:t>
            </a:r>
            <a:r>
              <a:rPr lang="en-US" dirty="0"/>
              <a:t>-scam-analysis/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Bored Bunny</a:t>
            </a:r>
          </a:p>
          <a:p>
            <a:r>
              <a:rPr lang="en-US" b="1" dirty="0"/>
              <a:t>Behavior:</a:t>
            </a:r>
            <a:r>
              <a:rPr lang="en-US" dirty="0"/>
              <a:t> Celebrity-backed liquidity dump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Early 2022</a:t>
            </a:r>
            <a:br>
              <a:rPr lang="en-US" dirty="0"/>
            </a:br>
            <a:r>
              <a:rPr lang="en-US" b="1" dirty="0"/>
              <a:t>Impact:</a:t>
            </a:r>
            <a:r>
              <a:rPr lang="en-US" dirty="0"/>
              <a:t> ~$21M drained after hype-driven price inflation</a:t>
            </a:r>
            <a:br>
              <a:rPr lang="en-US" dirty="0"/>
            </a:br>
            <a:r>
              <a:rPr lang="en-US" b="1" dirty="0"/>
              <a:t>Sources: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www.koinly.io</a:t>
            </a:r>
            <a:r>
              <a:rPr lang="en-US" dirty="0"/>
              <a:t>/blog/crypto-rug-pulls/ </a:t>
            </a:r>
          </a:p>
          <a:p>
            <a:r>
              <a:rPr lang="en-US" dirty="0"/>
              <a:t>https://</a:t>
            </a:r>
            <a:r>
              <a:rPr lang="en-US" dirty="0" err="1"/>
              <a:t>www.webopedia.com</a:t>
            </a:r>
            <a:r>
              <a:rPr lang="en-US" dirty="0"/>
              <a:t>/crypto/learn/crypto-rug-pulls-scams/ </a:t>
            </a:r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930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913</Words>
  <Application>Microsoft Macintosh PowerPoint</Application>
  <PresentationFormat>On-screen Show (4:3)</PresentationFormat>
  <Paragraphs>86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Detecting Pump-and-Dump in Small-Cap Ethereum Tokens</vt:lpstr>
      <vt:lpstr>Unsupervised Learning Rationale</vt:lpstr>
      <vt:lpstr>Mid-Cap Token Selection</vt:lpstr>
      <vt:lpstr>Ground Truth Fraud Examples</vt:lpstr>
      <vt:lpstr>Price &amp; Volume Feature Design</vt:lpstr>
      <vt:lpstr>Upgrading Dune Analytics</vt:lpstr>
      <vt:lpstr>Appendix</vt:lpstr>
      <vt:lpstr>Data Extraction (Dune SQL)</vt:lpstr>
      <vt:lpstr>Ground Truth Fraud Baselines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Gillian Schriever</cp:lastModifiedBy>
  <cp:revision>6</cp:revision>
  <dcterms:created xsi:type="dcterms:W3CDTF">2013-01-27T09:14:16Z</dcterms:created>
  <dcterms:modified xsi:type="dcterms:W3CDTF">2026-04-02T17:43:53Z</dcterms:modified>
  <cp:category/>
</cp:coreProperties>
</file>