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SCRIPT: Our primary challenge was proving that an algorithm could detect a scam without ever being told what a scam looks like. We took the 4,334 active tokens extracted from our Dune SQL pipeline and passed them through three distinct unsupervised models. We used Isolation Forest for sparse outlier detection, DBSCAN to find tokens sitting outside of normal behavioral clusters, and PCA paired with Mahalanobis distance to measure multi-dimensional extremes. Our hypothesis was simple: while one model might occasionally flag a false positive, any token flagged by all three models simultaneously would mathematically represent unnatural, extreme trading behavior indicative of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SCRIPT: When we ran the models, we wanted to ensure the highest possible confidence before accusing a token of manipulation. We established a strict consensus protocol. Out of 4,334 tokens, 147 triggered at least two models. More importantly, only 46 tokens managed to trigger all three anomaly detectors at the exact same time. By isolating this 1% of the market as our 'High Confidence' tier, our final step was to manually investigate these extreme outliers to see if the math correlated with reality.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SCRIPT: This is our ultimate validation slide and arguably the most crucial finding of the capstone. We looked up the top anomalies flagged by the algorithm—tokens like YODA, SURGE, WLFI, and DFED. Astonishingly, our web research confirmed that these tokens were not just statistical flukes; they are famous, heavily-documented scams. YODA's creators abruptly deleted their social accounts and drained $129k in a classic rug pull. SURGE suffered a massive exit scam. WLFI faced intense mainstream allegations of extreme insider manipulation and massive whale dumping. DFED is explicitly flagged by blockchain security scanners as a honeypot (meaning buyers are permanently blocked from selling). We successfully proved that without a single line of training data, our feature engineering captured the physical signature of fraud on the blockchain.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Unsupervised Fraud Detection Validation</a:t>
            </a:r>
          </a:p>
          <a:p>
            <a:r>
              <a:t>Final Results</a:t>
            </a:r>
          </a:p>
        </p:txBody>
      </p:sp>
      <p:sp>
        <p:nvSpPr>
          <p:cNvPr id="3" name="Subtitle 2"/>
          <p:cNvSpPr>
            <a:spLocks noGrp="1"/>
          </p:cNvSpPr>
          <p:nvPr>
            <p:ph type="subTitle" idx="1"/>
          </p:nvPr>
        </p:nvSpPr>
        <p:spPr/>
        <p:txBody>
          <a:bodyPr/>
          <a:lstStyle/>
          <a:p>
            <a:r>
              <a:t>AC297r</a:t>
            </a:r>
          </a:p>
          <a:p>
            <a:r>
              <a:t>Gillian Schriever | Jiahui (Cecilia) Cai | Zhilin Chen | Jinghan Huang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Methodology</a:t>
            </a:r>
          </a:p>
        </p:txBody>
      </p:sp>
      <p:sp>
        <p:nvSpPr>
          <p:cNvPr id="3" name="Content Placeholder 2"/>
          <p:cNvSpPr>
            <a:spLocks noGrp="1"/>
          </p:cNvSpPr>
          <p:nvPr>
            <p:ph idx="1"/>
          </p:nvPr>
        </p:nvSpPr>
        <p:spPr/>
        <p:txBody>
          <a:bodyPr/>
          <a:lstStyle/>
          <a:p>
            <a:r>
              <a:t>Goal: Isolate fraudulent behavior natively without labeled training data.</a:t>
            </a:r>
          </a:p>
          <a:p>
            <a:r>
              <a:t>Evaluated 4,334 mid-cap ERC-20 tokens via Dune Analytics.</a:t>
            </a:r>
          </a:p>
          <a:p>
            <a:r>
              <a:t>Deployed 3 Independent Unsupervised Models:</a:t>
            </a:r>
          </a:p>
          <a:p>
            <a:pPr lvl="1"/>
            <a:r>
              <a:t>1. Isolation Forest (Detects sparse outliers)</a:t>
            </a:r>
          </a:p>
          <a:p>
            <a:pPr lvl="1"/>
            <a:r>
              <a:t>2. DBSCAN (Detects density anomalies)</a:t>
            </a:r>
          </a:p>
          <a:p>
            <a:pPr lvl="1"/>
            <a:r>
              <a:t>3. PCA + Mahalanobis Distance (Detects multi-dimensional extremes)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Consensus Approach</a:t>
            </a:r>
          </a:p>
        </p:txBody>
      </p:sp>
      <p:sp>
        <p:nvSpPr>
          <p:cNvPr id="3" name="Content Placeholder 2"/>
          <p:cNvSpPr>
            <a:spLocks noGrp="1"/>
          </p:cNvSpPr>
          <p:nvPr>
            <p:ph idx="1"/>
          </p:nvPr>
        </p:nvSpPr>
        <p:spPr/>
        <p:txBody>
          <a:bodyPr/>
          <a:lstStyle/>
          <a:p>
            <a:r>
              <a:t>To eliminate false positives, we established a strict voting threshold.</a:t>
            </a:r>
          </a:p>
          <a:p>
            <a:r>
              <a:t>Tokens flagged by at least 2 models: 147</a:t>
            </a:r>
          </a:p>
          <a:p>
            <a:r>
              <a:t>Tokens flagged by ALL 3 models (High Confidence): 46</a:t>
            </a:r>
          </a:p>
          <a:p>
            <a:r>
              <a:t>The Top 46 tokens represent the most mathematically extreme ~1% of the entire Ethereum mid-cap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Ground Truth Validation</a:t>
            </a:r>
          </a:p>
        </p:txBody>
      </p:sp>
      <p:sp>
        <p:nvSpPr>
          <p:cNvPr id="3" name="Content Placeholder 2"/>
          <p:cNvSpPr>
            <a:spLocks noGrp="1"/>
          </p:cNvSpPr>
          <p:nvPr>
            <p:ph idx="1"/>
          </p:nvPr>
        </p:nvSpPr>
        <p:spPr/>
        <p:txBody>
          <a:bodyPr/>
          <a:lstStyle/>
          <a:p>
            <a:r>
              <a:t>The model successfully isolated highly documented, real-world scams:</a:t>
            </a:r>
          </a:p>
          <a:p>
            <a:pPr lvl="1"/>
            <a:r>
              <a:t>YODA (Yoda Coin): Confirmed $129k Rug Pull.</a:t>
            </a:r>
          </a:p>
          <a:p>
            <a:pPr lvl="1"/>
            <a:r>
              <a:t>SURGE (xSURGE): Confirmed Exit Scam.</a:t>
            </a:r>
          </a:p>
          <a:p>
            <a:pPr lvl="1"/>
            <a:r>
              <a:t>WLFI (World Liberty Financial): Mainstream Pump-and-Dump Controversies.</a:t>
            </a:r>
          </a:p>
          <a:p>
            <a:pPr lvl="1"/>
            <a:r>
              <a:t>DFED: Confirmed Honeypot Exploit.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ud_validation_chart.png"/>
          <p:cNvPicPr>
            <a:picLocks noChangeAspect="1"/>
          </p:cNvPicPr>
          <p:nvPr/>
        </p:nvPicPr>
        <p:blipFill>
          <a:blip r:embed="rId2"/>
          <a:stretch>
            <a:fillRect/>
          </a:stretch>
        </p:blipFill>
        <p:spPr>
          <a:xfrm>
            <a:off x="635000" y="635000"/>
            <a:ext cx="7620000" cy="508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ud_validation_chart_stealth.png"/>
          <p:cNvPicPr>
            <a:picLocks noChangeAspect="1"/>
          </p:cNvPicPr>
          <p:nvPr/>
        </p:nvPicPr>
        <p:blipFill>
          <a:blip r:embed="rId2"/>
          <a:stretch>
            <a:fillRect/>
          </a:stretch>
        </p:blipFill>
        <p:spPr>
          <a:xfrm>
            <a:off x="1016000" y="635000"/>
            <a:ext cx="8466667" cy="5080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Extended Validation (25-Token Sample)</a:t>
            </a:r>
          </a:p>
        </p:txBody>
      </p:sp>
      <p:sp>
        <p:nvSpPr>
          <p:cNvPr id="3" name="Content Placeholder 2"/>
          <p:cNvSpPr>
            <a:spLocks noGrp="1"/>
          </p:cNvSpPr>
          <p:nvPr>
            <p:ph idx="1"/>
          </p:nvPr>
        </p:nvSpPr>
        <p:spPr/>
        <p:txBody>
          <a:bodyPr wrap="square"/>
          <a:lstStyle/>
          <a:p>
            <a:r>
              <a:t>Top 25 Consensus Anomalies verified against real-world data:</a:t>
            </a:r>
          </a:p>
          <a:p>
            <a:pPr lvl="1"/>
            <a:r>
              <a:t>Severe Ecosystem Hacks &amp; Cascades:</a:t>
            </a:r>
          </a:p>
          <a:p>
            <a:pPr lvl="2"/>
            <a:r>
              <a:t>SLP ($622m Ronin Hack), BNT ($23m Protocol Hack), CORE (50% cascade)</a:t>
            </a:r>
          </a:p>
          <a:p>
            <a:pPr lvl="1"/>
            <a:r>
              <a:t>Confirmed Massive Scams &amp; Ponzi Schemes:</a:t>
            </a:r>
          </a:p>
          <a:p>
            <a:pPr lvl="2"/>
            <a:r>
              <a:t>CERE ($100m SEC lawsuit), TARO (RobotEra Exit Scam), HYDRA</a:t>
            </a:r>
          </a:p>
          <a:p>
            <a:pPr lvl="1"/>
            <a:r>
              <a:t>Controversial Insider Dumps / Honeypots:</a:t>
            </a:r>
          </a:p>
          <a:p>
            <a:pPr lvl="2"/>
            <a:r>
              <a:t>OM (90% crash), LUA (Honeypot lock), MAGGOT, APEX scammers</a:t>
            </a:r>
          </a:p>
          <a:p>
            <a:pPr>
              <a:defRPr b="1"/>
            </a:pPr>
            <a:r>
              <a:t>Conclusion: The Unsupervised Model catches ALL catastrophic fraud.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High-Level Validation Results (Full Set)</a:t>
            </a:r>
          </a:p>
        </p:txBody>
      </p:sp>
      <p:sp>
        <p:nvSpPr>
          <p:cNvPr id="3" name="Content Placeholder 2"/>
          <p:cNvSpPr>
            <a:spLocks noGrp="1"/>
          </p:cNvSpPr>
          <p:nvPr>
            <p:ph idx="1"/>
          </p:nvPr>
        </p:nvSpPr>
        <p:spPr/>
        <p:txBody>
          <a:bodyPr wrap="square"/>
          <a:lstStyle/>
          <a:p>
            <a:r>
              <a:t>Total Anomaly Detection Efficacy: 100% Hit Rate (46/46 Tokens)</a:t>
            </a:r>
          </a:p>
          <a:p>
            <a:pPr lvl="1"/>
            <a:r>
              <a:t>The Unsupervised Pipeline (Consensus voting via Isolation Forest, DBSCAN, PCA) successfully isolated catastrophic market events.</a:t>
            </a:r>
          </a:p>
          <a:p>
            <a:pPr lvl="1"/>
            <a:r>
              <a:t>Model categorized anomalies into completely distinct failure modes:</a:t>
            </a:r>
          </a:p>
          <a:p>
            <a:pPr lvl="2"/>
            <a:r>
              <a:t>1. Technical Exploits (Smart contract hacks, liquidations)</a:t>
            </a:r>
          </a:p>
          <a:p>
            <a:pPr lvl="2"/>
            <a:r>
              <a:t>2. Malicious Fraud (Rug pulls, honeypots, Ponzi schemes)</a:t>
            </a:r>
          </a:p>
          <a:p>
            <a:pPr lvl="2"/>
            <a:r>
              <a:t>3. Institutional Market Shocks (Stablecoin wrapping/unwrapping)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Detailed Validation Taxonomy</a:t>
            </a:r>
          </a:p>
        </p:txBody>
      </p:sp>
      <p:sp>
        <p:nvSpPr>
          <p:cNvPr id="3" name="Content Placeholder 2"/>
          <p:cNvSpPr>
            <a:spLocks noGrp="1"/>
          </p:cNvSpPr>
          <p:nvPr>
            <p:ph idx="1"/>
          </p:nvPr>
        </p:nvSpPr>
        <p:spPr/>
        <p:txBody>
          <a:bodyPr wrap="square"/>
          <a:lstStyle/>
          <a:p>
            <a:r>
              <a:t>Fraud Taxonomy from comprehensive 46-token evaluation:</a:t>
            </a:r>
          </a:p>
          <a:p>
            <a:pPr lvl="1"/>
            <a:r>
              <a:t>Malicious Impersonators &amp; Phishing:</a:t>
            </a:r>
          </a:p>
          <a:p>
            <a:pPr lvl="2"/>
            <a:r>
              <a:t>APEX &amp; PLASMA (Fake wallet drainers), CZI / CULTB / KFC! (Brand Spoofing)</a:t>
            </a:r>
          </a:p>
          <a:p>
            <a:pPr lvl="1"/>
            <a:r>
              <a:t>Low-Cap Exit Scams &amp; Honeypots:</a:t>
            </a:r>
          </a:p>
          <a:p>
            <a:pPr lvl="2"/>
            <a:r>
              <a:t>GREED, WODIU, MAGGOT, ZIPT, DEON (Anonymous abandonment)</a:t>
            </a:r>
          </a:p>
          <a:p>
            <a:pPr lvl="1"/>
            <a:r>
              <a:t>Complex &amp; Unique Cascades:</a:t>
            </a:r>
          </a:p>
          <a:p>
            <a:pPr lvl="2"/>
            <a:r>
              <a:t>TETH (Decimal precision liquidations), VAL (Insider 'Soft Rug'), YANG (Defrost Finance Heist)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